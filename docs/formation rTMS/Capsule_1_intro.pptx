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3"/>
  </p:notesMasterIdLst>
  <p:sldIdLst>
    <p:sldId id="295" r:id="rId3"/>
    <p:sldId id="283" r:id="rId4"/>
    <p:sldId id="275" r:id="rId5"/>
    <p:sldId id="276" r:id="rId6"/>
    <p:sldId id="336" r:id="rId7"/>
    <p:sldId id="701" r:id="rId8"/>
    <p:sldId id="578" r:id="rId9"/>
    <p:sldId id="337" r:id="rId10"/>
    <p:sldId id="511" r:id="rId11"/>
    <p:sldId id="682" r:id="rId12"/>
    <p:sldId id="671" r:id="rId13"/>
    <p:sldId id="512" r:id="rId14"/>
    <p:sldId id="438" r:id="rId15"/>
    <p:sldId id="387" r:id="rId16"/>
    <p:sldId id="341" r:id="rId17"/>
    <p:sldId id="339" r:id="rId18"/>
    <p:sldId id="397" r:id="rId19"/>
    <p:sldId id="388" r:id="rId20"/>
    <p:sldId id="469" r:id="rId21"/>
    <p:sldId id="389" r:id="rId22"/>
    <p:sldId id="340" r:id="rId23"/>
    <p:sldId id="700" r:id="rId24"/>
    <p:sldId id="703" r:id="rId25"/>
    <p:sldId id="704" r:id="rId26"/>
    <p:sldId id="705" r:id="rId27"/>
    <p:sldId id="706" r:id="rId28"/>
    <p:sldId id="707" r:id="rId29"/>
    <p:sldId id="709" r:id="rId30"/>
    <p:sldId id="710" r:id="rId31"/>
    <p:sldId id="605" r:id="rId32"/>
    <p:sldId id="711" r:id="rId33"/>
    <p:sldId id="712" r:id="rId34"/>
    <p:sldId id="713" r:id="rId35"/>
    <p:sldId id="714" r:id="rId36"/>
    <p:sldId id="715" r:id="rId37"/>
    <p:sldId id="716" r:id="rId38"/>
    <p:sldId id="717" r:id="rId39"/>
    <p:sldId id="718" r:id="rId40"/>
    <p:sldId id="719" r:id="rId41"/>
    <p:sldId id="720" r:id="rId4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1" d="100"/>
          <a:sy n="81" d="100"/>
        </p:scale>
        <p:origin x="40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6523B4-97B0-4EA2-809D-B50F162E0CC9}" type="datetimeFigureOut">
              <a:rPr lang="fr-FR" smtClean="0"/>
              <a:t>26/09/2026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6F36C-D79A-4552-B7B3-E8DA0B05CF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2197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BF22CF-61C5-4F7C-880C-2A75DFB2858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712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L’enjeu est de pouvoir proposer ce qu’il se fait de mieux en psychiatrie, avec évidemment des consultations de psychiatrie générale, gérontopsychiatrie, addictologie, somnologie, mais également des approches nouvelles. </a:t>
            </a:r>
            <a:br>
              <a:rPr lang="fr-FR" dirty="0"/>
            </a:br>
            <a:r>
              <a:rPr lang="fr-FR" dirty="0"/>
              <a:t>Les fondateurs du cabinet sont notamment spécialisés en psychopharmacologie et neurostimulation, et ils proposent également d’autres approches complémentaires : luminothérapie, psychiatrie nutritionnelle, thérapie de groupe, psychothérapies, </a:t>
            </a:r>
            <a:r>
              <a:rPr lang="fr-FR" dirty="0" err="1"/>
              <a:t>remediation</a:t>
            </a:r>
            <a:r>
              <a:rPr lang="fr-FR" dirty="0"/>
              <a:t> cognitives, etc. dans le but de traité l’intégralité des troubles psychiatriques.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BF22CF-61C5-4F7C-880C-2A75DFB2858F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004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167A2F-B7BE-49CA-97B0-95EB198CC52B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925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CA" altLang="fr-FR" dirty="0" err="1"/>
              <a:t>Expliquer</a:t>
            </a:r>
            <a:r>
              <a:rPr lang="en-CA" altLang="fr-FR" dirty="0"/>
              <a:t> </a:t>
            </a:r>
            <a:r>
              <a:rPr lang="en-CA" altLang="fr-FR" dirty="0" err="1"/>
              <a:t>pourquoi</a:t>
            </a:r>
            <a:r>
              <a:rPr lang="en-CA" altLang="fr-FR" dirty="0"/>
              <a:t> on </a:t>
            </a:r>
            <a:r>
              <a:rPr lang="en-CA" altLang="fr-FR" dirty="0" err="1"/>
              <a:t>en</a:t>
            </a:r>
            <a:r>
              <a:rPr lang="en-CA" altLang="fr-FR" dirty="0"/>
              <a:t> a </a:t>
            </a:r>
            <a:r>
              <a:rPr lang="en-CA" altLang="fr-FR" dirty="0" err="1"/>
              <a:t>besoin</a:t>
            </a:r>
            <a:endParaRPr lang="en-CA" alt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5679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CA" altLang="fr-FR" dirty="0" err="1"/>
              <a:t>Expliquer</a:t>
            </a:r>
            <a:r>
              <a:rPr lang="en-CA" altLang="fr-FR" dirty="0"/>
              <a:t> </a:t>
            </a:r>
            <a:r>
              <a:rPr lang="en-CA" altLang="fr-FR" dirty="0" err="1"/>
              <a:t>pourquoi</a:t>
            </a:r>
            <a:r>
              <a:rPr lang="en-CA" altLang="fr-FR" dirty="0"/>
              <a:t> on </a:t>
            </a:r>
            <a:r>
              <a:rPr lang="en-CA" altLang="fr-FR" dirty="0" err="1"/>
              <a:t>en</a:t>
            </a:r>
            <a:r>
              <a:rPr lang="en-CA" altLang="fr-FR" dirty="0"/>
              <a:t> a </a:t>
            </a:r>
            <a:r>
              <a:rPr lang="en-CA" altLang="fr-FR" dirty="0" err="1"/>
              <a:t>besoin</a:t>
            </a:r>
            <a:endParaRPr lang="en-CA" alt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138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CA" altLang="fr-FR" dirty="0"/>
              <a:t>Dire à quoi </a:t>
            </a:r>
            <a:r>
              <a:rPr lang="en-CA" altLang="fr-FR" dirty="0" err="1"/>
              <a:t>va</a:t>
            </a:r>
            <a:r>
              <a:rPr lang="en-CA" altLang="fr-FR" dirty="0"/>
              <a:t> server </a:t>
            </a:r>
            <a:r>
              <a:rPr lang="en-CA" altLang="fr-FR" dirty="0" err="1"/>
              <a:t>cette</a:t>
            </a:r>
            <a:r>
              <a:rPr lang="en-CA" altLang="fr-FR" dirty="0"/>
              <a:t> 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318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190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233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CA" altLang="fr-FR" dirty="0"/>
              <a:t>Faire un focus sur les </a:t>
            </a:r>
            <a:r>
              <a:rPr lang="en-CA" altLang="fr-FR" dirty="0" err="1"/>
              <a:t>différentes</a:t>
            </a:r>
            <a:r>
              <a:rPr lang="en-CA" altLang="fr-FR" dirty="0"/>
              <a:t> techniques de neurostimulation et dire dans quoi la rTMS </a:t>
            </a:r>
            <a:r>
              <a:rPr lang="en-CA" altLang="fr-FR" dirty="0" err="1"/>
              <a:t>s’inscrit</a:t>
            </a:r>
            <a:endParaRPr lang="en-CA" alt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565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3528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357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041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116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536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0904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963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961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980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3572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3965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7087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0965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0185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145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2065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9299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4191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38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9728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3787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7990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9664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8205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62977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7575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2253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dirty="0"/>
              <a:t>Le champs magnétique crée est converti en courant électrique à distance (entre 2 et 3 cm) sur une petite zone (2-3 cm3)</a:t>
            </a:r>
          </a:p>
          <a:p>
            <a:endParaRPr lang="en-CA" alt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B40B1C-245D-4EAA-A5D5-2A21BB22F741}" type="slidenum">
              <a:rPr kumimoji="0" lang="en-CA" alt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CA" alt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77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1C24B2-7201-F57B-D56A-3B2FD7963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204288-CCC6-97A7-B176-FD7F4560E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80EC59-0040-1203-1A3B-A0F7446B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9094-511E-426A-ADC7-2F3763D21D5E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E9759C-A45C-740A-F279-73A932E3A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5F5CD9-986D-E87D-6E45-7BA54ED87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2BFA-D3A9-4461-9A1D-3A9FDC280F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501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84B894-A689-B561-48AC-875250E7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8A2406-C9B5-A701-F05E-E84C82685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25773B-4C1A-3228-C58B-72BC3450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9094-511E-426A-ADC7-2F3763D21D5E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2B9529-05A4-E40D-6AED-3C7B3A99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F3E9DB-279A-CC2A-4D58-FDA53116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2BFA-D3A9-4461-9A1D-3A9FDC280F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26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B8D8F3-4ACA-188F-DBB7-1D4721CE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71CF5C-DAC6-1290-F819-1122EFAD9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785DEE-089A-A231-2430-F6937E45C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9094-511E-426A-ADC7-2F3763D21D5E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C2DC39-A3BA-807E-7BBB-A4CADAA2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822596-DE40-5CA4-F320-850649D4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2BFA-D3A9-4461-9A1D-3A9FDC280F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22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CBCCF7-4E18-E7F2-4835-090D66E5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6B71E2-34B5-77F3-9DE0-69586DEBF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CA4948-555B-1CCF-517B-5710966FE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BA40EE-9017-8C40-1C04-43C13E16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9094-511E-426A-ADC7-2F3763D21D5E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C0F357-F8AB-3B4C-AE00-4CC84B6D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8CA663-DB23-1B58-E91C-201927870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2BFA-D3A9-4461-9A1D-3A9FDC280F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035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132FC0-9189-2E30-7152-57BF77DCB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46ED37-3C3A-ADF9-4983-AD1766D0F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222ED62-BC88-1D40-A1D0-06D773200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D7C5F8F-882D-0909-E091-B8917898F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326A78E-27E8-5D8E-68B7-59D111CB3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1F6F2C8-EAD5-F51C-2605-35704DF88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9094-511E-426A-ADC7-2F3763D21D5E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7C2E29E-70BD-3D39-AE14-DEDDD6C4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C123A0D-3B7E-774E-F89F-EAE1C87B0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2BFA-D3A9-4461-9A1D-3A9FDC280F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279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8D2ABB-F1F9-081D-6447-FA35EE485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9EA3679-6404-FEB5-6587-A0042722B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9094-511E-426A-ADC7-2F3763D21D5E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52653A2-5D4E-73D2-CBE9-C5AC13AD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E4AF127-F920-CB07-6257-A65FB724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2BFA-D3A9-4461-9A1D-3A9FDC280F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15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CE7C4C7-393D-0196-C9A2-92B96ED45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9094-511E-426A-ADC7-2F3763D21D5E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147162F-7AF5-CC35-AA4F-FDF8E2FDC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2FF92E-1A40-9F9B-5EBB-2D52A2F7C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2BFA-D3A9-4461-9A1D-3A9FDC280F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88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479DB1-D7BE-1431-0392-FD7B22456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927F99-6420-26C5-11A5-702B9EA44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23CEA0-25A6-03BF-5E2F-70392FB4D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3D0A5B-AA9E-6876-655A-6F6B74821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9094-511E-426A-ADC7-2F3763D21D5E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558E81-8116-BDAE-F13D-FB00D1B68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38ECF3-C6F9-0DA2-8C09-DF3C3596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2BFA-D3A9-4461-9A1D-3A9FDC280F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755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96DEB4-8D78-953D-F30D-347912135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7EEE50E-E206-0319-04FA-42E2594FD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AE7238-BA6E-BFA3-E69A-A1A5C80410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A235A3-7B32-1751-F929-C3EDEA05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9094-511E-426A-ADC7-2F3763D21D5E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6FEFB6-A949-3E67-5763-52F6F87A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BADCD5-8189-88BC-0435-279AD7547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2BFA-D3A9-4461-9A1D-3A9FDC280F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3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40AA41-1091-1EB8-5AC3-43E8D3D5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9C2CF6C-3BDD-20BF-7127-4C0E204CF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D9259A-191A-0DA6-118D-1D85360E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9094-511E-426A-ADC7-2F3763D21D5E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8AD995-C99B-4959-BC07-AA5590857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36073-8142-8CA6-F928-868EEAD1C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2BFA-D3A9-4461-9A1D-3A9FDC280F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090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15C026F-B7AA-8A5C-2FD8-CA0868591C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7403C7-8967-CBB1-1FDA-6F4E2D5BC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713DC3-5002-DE0B-E246-E64A5FC6E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9094-511E-426A-ADC7-2F3763D21D5E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365623-D1CC-E4F6-F3FF-F44915C01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30039D-9863-ADDB-2E10-69BAEC85D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C12BFA-D3A9-4461-9A1D-3A9FDC280F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356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12192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12700" y="6053139"/>
            <a:ext cx="2999317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45368" y="6043614"/>
            <a:ext cx="9046633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9013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A68352E-080E-4401-A036-3D16125923CA}" type="datetimeFigureOut">
              <a:rPr lang="en-US"/>
              <a:pPr>
                <a:defRPr/>
              </a:pPr>
              <a:t>9/26/2026</a:t>
            </a:fld>
            <a:endParaRPr lang="en-CA" dirty="0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1300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CA">
              <a:solidFill>
                <a:srgbClr val="EBDDC3"/>
              </a:solidFill>
            </a:endParaRPr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09C2685-E420-49C8-A601-1DBFF9B6B475}" type="slidenum">
              <a:rPr lang="en-CA" altLang="fr-FR">
                <a:solidFill>
                  <a:srgbClr val="EBDDC3"/>
                </a:solidFill>
              </a:rPr>
              <a:pPr/>
              <a:t>‹N°›</a:t>
            </a:fld>
            <a:endParaRPr lang="en-CA" altLang="fr-FR">
              <a:solidFill>
                <a:srgbClr val="EBDDC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945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A4C34-6B85-4DE3-A1DE-09DA0E5A3E31}" type="datetimeFigureOut">
              <a:rPr lang="en-US">
                <a:solidFill>
                  <a:srgbClr val="775F55"/>
                </a:solidFill>
              </a:rPr>
              <a:pPr>
                <a:defRPr/>
              </a:pPr>
              <a:t>9/26/2026</a:t>
            </a:fld>
            <a:endParaRPr lang="en-CA" dirty="0">
              <a:solidFill>
                <a:srgbClr val="775F55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>
              <a:solidFill>
                <a:srgbClr val="775F55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1A7F33-EFBA-45A0-AB15-0999BAD0A1D0}" type="slidenum">
              <a:rPr lang="en-CA" altLang="fr-FR"/>
              <a:pPr/>
              <a:t>‹N°›</a:t>
            </a:fld>
            <a:endParaRPr lang="en-CA" altLang="fr-FR"/>
          </a:p>
        </p:txBody>
      </p:sp>
    </p:spTree>
    <p:extLst>
      <p:ext uri="{BB962C8B-B14F-4D97-AF65-F5344CB8AC3E}">
        <p14:creationId xmlns:p14="http://schemas.microsoft.com/office/powerpoint/2010/main" val="1860349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EB39-A81B-49EC-A653-778822A19993}" type="datetimeFigureOut">
              <a:rPr lang="en-US">
                <a:solidFill>
                  <a:srgbClr val="775F55"/>
                </a:solidFill>
              </a:rPr>
              <a:pPr>
                <a:defRPr/>
              </a:pPr>
              <a:t>9/26/2026</a:t>
            </a:fld>
            <a:endParaRPr lang="en-CA" dirty="0">
              <a:solidFill>
                <a:srgbClr val="775F55"/>
              </a:solidFill>
            </a:endParaRPr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727200" cy="70167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fld id="{42304522-6F71-4F31-BC74-57B463A6A54B}" type="slidenum">
              <a:rPr lang="en-CA" altLang="fr-FR"/>
              <a:pPr/>
              <a:t>‹N°›</a:t>
            </a:fld>
            <a:endParaRPr lang="en-CA" altLang="fr-FR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628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F9C9388-B525-49AF-A401-3C0BED1E6E9F}" type="datetimeFigureOut">
              <a:rPr lang="en-US">
                <a:solidFill>
                  <a:srgbClr val="775F55"/>
                </a:solidFill>
              </a:rPr>
              <a:pPr>
                <a:defRPr/>
              </a:pPr>
              <a:t>9/26/2026</a:t>
            </a:fld>
            <a:endParaRPr lang="en-CA" dirty="0">
              <a:solidFill>
                <a:srgbClr val="775F55"/>
              </a:solidFill>
            </a:endParaRPr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AC016DD-154D-4D3D-99BD-F5B80D1D3FEE}" type="slidenum">
              <a:rPr lang="en-CA" altLang="fr-FR"/>
              <a:pPr/>
              <a:t>‹N°›</a:t>
            </a:fld>
            <a:endParaRPr lang="en-CA" altLang="fr-FR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CA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909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486B674-2BA0-4BF0-A79F-DA8A1AE77639}" type="datetimeFigureOut">
              <a:rPr lang="en-US">
                <a:solidFill>
                  <a:srgbClr val="775F55"/>
                </a:solidFill>
              </a:rPr>
              <a:pPr>
                <a:defRPr/>
              </a:pPr>
              <a:t>9/26/2026</a:t>
            </a:fld>
            <a:endParaRPr lang="en-CA" dirty="0">
              <a:solidFill>
                <a:srgbClr val="775F55"/>
              </a:solidFill>
            </a:endParaRP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1839C8-E3F5-4D21-B557-6304B017E20D}" type="slidenum">
              <a:rPr lang="en-CA" altLang="fr-FR"/>
              <a:pPr/>
              <a:t>‹N°›</a:t>
            </a:fld>
            <a:endParaRPr lang="en-CA" altLang="fr-FR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CA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371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FAFBB-8310-4310-93D6-C84B73E317E8}" type="datetimeFigureOut">
              <a:rPr lang="en-US">
                <a:solidFill>
                  <a:srgbClr val="775F55"/>
                </a:solidFill>
              </a:rPr>
              <a:pPr>
                <a:defRPr/>
              </a:pPr>
              <a:t>9/26/2026</a:t>
            </a:fld>
            <a:endParaRPr lang="en-CA" dirty="0">
              <a:solidFill>
                <a:srgbClr val="775F55"/>
              </a:solidFill>
            </a:endParaRP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>
              <a:solidFill>
                <a:srgbClr val="775F55"/>
              </a:solidFill>
            </a:endParaRPr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7F0455-9987-4E4E-8FA2-C7A30199B1A7}" type="slidenum">
              <a:rPr lang="en-CA" altLang="fr-FR"/>
              <a:pPr/>
              <a:t>‹N°›</a:t>
            </a:fld>
            <a:endParaRPr lang="en-CA" altLang="fr-FR"/>
          </a:p>
        </p:txBody>
      </p:sp>
    </p:spTree>
    <p:extLst>
      <p:ext uri="{BB962C8B-B14F-4D97-AF65-F5344CB8AC3E}">
        <p14:creationId xmlns:p14="http://schemas.microsoft.com/office/powerpoint/2010/main" val="3652103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98CDD-9E29-4B39-B705-78F9F67627AB}" type="datetimeFigureOut">
              <a:rPr lang="en-US">
                <a:solidFill>
                  <a:srgbClr val="775F55"/>
                </a:solidFill>
              </a:rPr>
              <a:pPr>
                <a:defRPr/>
              </a:pPr>
              <a:t>9/26/2026</a:t>
            </a:fld>
            <a:endParaRPr lang="en-CA" dirty="0">
              <a:solidFill>
                <a:srgbClr val="775F55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>
              <a:solidFill>
                <a:srgbClr val="775F5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C480CA-10A2-4413-9252-1515C5200063}" type="slidenum">
              <a:rPr lang="en-CA" altLang="fr-FR">
                <a:solidFill>
                  <a:srgbClr val="775F55"/>
                </a:solidFill>
              </a:rPr>
              <a:pPr/>
              <a:t>‹N°›</a:t>
            </a:fld>
            <a:endParaRPr lang="en-CA" altLang="fr-FR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9788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49089-4A75-435A-A38C-0B26A2674A8C}" type="datetimeFigureOut">
              <a:rPr lang="en-US">
                <a:solidFill>
                  <a:srgbClr val="775F55"/>
                </a:solidFill>
              </a:rPr>
              <a:pPr>
                <a:defRPr/>
              </a:pPr>
              <a:t>9/26/2026</a:t>
            </a:fld>
            <a:endParaRPr lang="en-CA" dirty="0">
              <a:solidFill>
                <a:srgbClr val="775F55"/>
              </a:solidFill>
            </a:endParaRP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>
              <a:solidFill>
                <a:srgbClr val="775F55"/>
              </a:solidFill>
            </a:endParaRP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C303CD-812F-4C16-ACAF-EA0FE059C0F9}" type="slidenum">
              <a:rPr lang="en-CA" altLang="fr-FR"/>
              <a:pPr/>
              <a:t>‹N°›</a:t>
            </a:fld>
            <a:endParaRPr lang="en-CA" altLang="fr-FR"/>
          </a:p>
        </p:txBody>
      </p:sp>
    </p:spTree>
    <p:extLst>
      <p:ext uri="{BB962C8B-B14F-4D97-AF65-F5344CB8AC3E}">
        <p14:creationId xmlns:p14="http://schemas.microsoft.com/office/powerpoint/2010/main" val="32661415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12700" y="4572001"/>
            <a:ext cx="12192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12699" y="4664075"/>
            <a:ext cx="1951567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59517" y="4654550"/>
            <a:ext cx="10132483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930401" y="1"/>
            <a:ext cx="133351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1C69BFC-BC2E-4F5E-999E-A75251A7BF62}" type="datetimeFigureOut">
              <a:rPr lang="en-US">
                <a:solidFill>
                  <a:srgbClr val="775F55"/>
                </a:solidFill>
              </a:rPr>
              <a:pPr>
                <a:defRPr/>
              </a:pPr>
              <a:t>9/26/2026</a:t>
            </a:fld>
            <a:endParaRPr lang="en-CA" dirty="0">
              <a:solidFill>
                <a:srgbClr val="775F55"/>
              </a:solidFill>
            </a:endParaRPr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1"/>
            <a:ext cx="1930400" cy="663575"/>
          </a:xfrm>
        </p:spPr>
        <p:txBody>
          <a:bodyPr/>
          <a:lstStyle>
            <a:lvl1pPr>
              <a:defRPr sz="2800"/>
            </a:lvl1pPr>
          </a:lstStyle>
          <a:p>
            <a:fld id="{A50229BB-C31D-4623-8140-5E994FC4533C}" type="slidenum">
              <a:rPr lang="en-CA" altLang="fr-FR"/>
              <a:pPr/>
              <a:t>‹N°›</a:t>
            </a:fld>
            <a:endParaRPr lang="en-CA" altLang="fr-FR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401"/>
            <a:ext cx="6096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CA">
              <a:solidFill>
                <a:srgbClr val="775F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672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BC84CC-8F7C-4BC3-8C3A-14110A660992}" type="datetimeFigureOut">
              <a:rPr lang="en-US">
                <a:solidFill>
                  <a:srgbClr val="775F55"/>
                </a:solidFill>
              </a:rPr>
              <a:pPr>
                <a:defRPr/>
              </a:pPr>
              <a:t>9/26/2026</a:t>
            </a:fld>
            <a:endParaRPr lang="en-CA" dirty="0">
              <a:solidFill>
                <a:srgbClr val="775F55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>
              <a:solidFill>
                <a:srgbClr val="775F55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82BCA6-E7D1-4D83-9748-B9E11AEC8C87}" type="slidenum">
              <a:rPr lang="en-CA" altLang="fr-FR"/>
              <a:pPr/>
              <a:t>‹N°›</a:t>
            </a:fld>
            <a:endParaRPr lang="en-CA" altLang="fr-FR"/>
          </a:p>
        </p:txBody>
      </p:sp>
    </p:spTree>
    <p:extLst>
      <p:ext uri="{BB962C8B-B14F-4D97-AF65-F5344CB8AC3E}">
        <p14:creationId xmlns:p14="http://schemas.microsoft.com/office/powerpoint/2010/main" val="22885388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8128001" y="0"/>
            <a:ext cx="427567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1"/>
            <a:ext cx="2946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3B7CD-57DE-4A54-A875-5AE35195D36A}" type="datetimeFigureOut">
              <a:rPr lang="en-US">
                <a:solidFill>
                  <a:srgbClr val="775F55"/>
                </a:solidFill>
              </a:rPr>
              <a:pPr>
                <a:defRPr/>
              </a:pPr>
              <a:t>9/26/2026</a:t>
            </a:fld>
            <a:endParaRPr lang="en-CA" dirty="0">
              <a:solidFill>
                <a:srgbClr val="775F55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1" y="6248401"/>
            <a:ext cx="743161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>
              <a:solidFill>
                <a:srgbClr val="775F55"/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7"/>
            <a:ext cx="533400" cy="325967"/>
          </a:xfrm>
        </p:spPr>
        <p:txBody>
          <a:bodyPr/>
          <a:lstStyle>
            <a:lvl1pPr>
              <a:defRPr/>
            </a:lvl1pPr>
          </a:lstStyle>
          <a:p>
            <a:fld id="{69EEF737-886A-4E55-996E-1FE4834B50BA}" type="slidenum">
              <a:rPr lang="en-CA" altLang="fr-FR"/>
              <a:pPr/>
              <a:t>‹N°›</a:t>
            </a:fld>
            <a:endParaRPr lang="en-CA" altLang="fr-FR"/>
          </a:p>
        </p:txBody>
      </p:sp>
    </p:spTree>
    <p:extLst>
      <p:ext uri="{BB962C8B-B14F-4D97-AF65-F5344CB8AC3E}">
        <p14:creationId xmlns:p14="http://schemas.microsoft.com/office/powerpoint/2010/main" val="3016340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A9532F-EF52-4533-A867-D99A195EA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641" y="272630"/>
            <a:ext cx="10965119" cy="1138521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6DC34DA-1718-41C6-99B2-37D4BF817AB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608641" y="6247462"/>
            <a:ext cx="2833920" cy="466544"/>
          </a:xfrm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35BE71A-3CF0-4C85-85DE-8391A338D91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170241" y="6247462"/>
            <a:ext cx="3859200" cy="466544"/>
          </a:xfrm>
        </p:spPr>
        <p:txBody>
          <a:bodyPr/>
          <a:lstStyle>
            <a:lvl1pPr>
              <a:defRPr/>
            </a:lvl1pPr>
          </a:lstStyle>
          <a:p>
            <a:endParaRPr lang="fr-FR" alt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8ADC29-A8F6-4D01-B556-AB7FE207A9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41761" y="6247462"/>
            <a:ext cx="2833920" cy="466544"/>
          </a:xfrm>
        </p:spPr>
        <p:txBody>
          <a:bodyPr/>
          <a:lstStyle>
            <a:lvl1pPr>
              <a:defRPr/>
            </a:lvl1pPr>
          </a:lstStyle>
          <a:p>
            <a:fld id="{BFC51FA7-A60F-4139-A9B1-6D06A10A56A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2467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A7610AF-AB25-4432-75A6-E61BCFB9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DA3FBD-F620-2164-0EA0-E726E7519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7A4A20-7771-5646-046F-54AE14C2B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C9094-511E-426A-ADC7-2F3763D21D5E}" type="datetimeFigureOut">
              <a:rPr lang="en-GB" smtClean="0"/>
              <a:t>26/09/2026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1E7027-2156-BF5D-A1B7-A59F113E21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3A0DFB-3108-07FB-C463-1FE485EA4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12BFA-D3A9-4461-9A1D-3A9FDC280F6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806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812800" y="228600"/>
            <a:ext cx="108712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817033" y="1600201"/>
            <a:ext cx="108712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r-FR"/>
              <a:t>Click to edit Master text styles</a:t>
            </a:r>
          </a:p>
          <a:p>
            <a:pPr lvl="1"/>
            <a:r>
              <a:rPr lang="en-US" altLang="fr-FR"/>
              <a:t>Second level</a:t>
            </a:r>
          </a:p>
          <a:p>
            <a:pPr lvl="2"/>
            <a:r>
              <a:rPr lang="en-US" altLang="fr-FR"/>
              <a:t>Third level</a:t>
            </a:r>
          </a:p>
          <a:p>
            <a:pPr lvl="3"/>
            <a:r>
              <a:rPr lang="en-US" altLang="fr-FR"/>
              <a:t>Fourth level</a:t>
            </a:r>
          </a:p>
          <a:p>
            <a:pPr lvl="4"/>
            <a:r>
              <a:rPr lang="en-US" altLang="fr-FR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8803CC5-CB00-4A56-8D8B-9EB321D428BB}" type="datetimeFigureOut">
              <a:rPr lang="en-US">
                <a:solidFill>
                  <a:srgbClr val="775F55"/>
                </a:solidFill>
              </a:rPr>
              <a:pPr>
                <a:defRPr/>
              </a:pPr>
              <a:t>9/26/2026</a:t>
            </a:fld>
            <a:endParaRPr lang="en-CA" dirty="0">
              <a:solidFill>
                <a:srgbClr val="775F55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401"/>
            <a:ext cx="7228417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>
              <a:solidFill>
                <a:srgbClr val="775F55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12192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7400" y="1279525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9"/>
            <a:ext cx="7112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sz="1400" b="1">
                <a:solidFill>
                  <a:srgbClr val="FFFFFF"/>
                </a:solidFill>
                <a:latin typeface="Tw Cen MT" panose="020B0602020104020603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43C56E2-92C3-480D-BA50-E57996312B2D}" type="slidenum">
              <a:rPr lang="en-CA" altLang="fr-FR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‹N°›</a:t>
            </a:fld>
            <a:endParaRPr lang="en-CA" altLang="fr-FR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07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14.emf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emf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jpe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jpeg"/><Relationship Id="rId7" Type="http://schemas.openxmlformats.org/officeDocument/2006/relationships/image" Target="../media/image5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jpeg"/><Relationship Id="rId5" Type="http://schemas.openxmlformats.org/officeDocument/2006/relationships/image" Target="../media/image48.png"/><Relationship Id="rId10" Type="http://schemas.openxmlformats.org/officeDocument/2006/relationships/image" Target="../media/image53.jpeg"/><Relationship Id="rId4" Type="http://schemas.openxmlformats.org/officeDocument/2006/relationships/image" Target="../media/image47.jpeg"/><Relationship Id="rId9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6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9.png"/><Relationship Id="rId4" Type="http://schemas.openxmlformats.org/officeDocument/2006/relationships/image" Target="../media/image5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2.png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jpeg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0" name="Rectangle 205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2" name="Freeform: Shape 2061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64" name="Freeform: Shape 2063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71" name="Freeform: Shape 2065">
            <a:extLst>
              <a:ext uri="{FF2B5EF4-FFF2-40B4-BE49-F238E27FC236}">
                <a16:creationId xmlns:a16="http://schemas.microsoft.com/office/drawing/2014/main" id="{B1F9B6B4-B0C4-45C6-A086-901C960D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2756893" cy="6858000"/>
          </a:xfrm>
          <a:custGeom>
            <a:avLst/>
            <a:gdLst>
              <a:gd name="connsiteX0" fmla="*/ 1133870 w 2756893"/>
              <a:gd name="connsiteY0" fmla="*/ 0 h 6858000"/>
              <a:gd name="connsiteX1" fmla="*/ 898082 w 2756893"/>
              <a:gd name="connsiteY1" fmla="*/ 0 h 6858000"/>
              <a:gd name="connsiteX2" fmla="*/ 920668 w 2756893"/>
              <a:gd name="connsiteY2" fmla="*/ 14997 h 6858000"/>
              <a:gd name="connsiteX3" fmla="*/ 2554961 w 2756893"/>
              <a:gd name="connsiteY3" fmla="*/ 3621656 h 6858000"/>
              <a:gd name="connsiteX4" fmla="*/ 641513 w 2756893"/>
              <a:gd name="connsiteY4" fmla="*/ 6374814 h 6858000"/>
              <a:gd name="connsiteX5" fmla="*/ 114086 w 2756893"/>
              <a:gd name="connsiteY5" fmla="*/ 6780599 h 6858000"/>
              <a:gd name="connsiteX6" fmla="*/ 0 w 2756893"/>
              <a:gd name="connsiteY6" fmla="*/ 6858000 h 6858000"/>
              <a:gd name="connsiteX7" fmla="*/ 40637 w 2756893"/>
              <a:gd name="connsiteY7" fmla="*/ 6858000 h 6858000"/>
              <a:gd name="connsiteX8" fmla="*/ 254139 w 2756893"/>
              <a:gd name="connsiteY8" fmla="*/ 6858000 h 6858000"/>
              <a:gd name="connsiteX9" fmla="*/ 365895 w 2756893"/>
              <a:gd name="connsiteY9" fmla="*/ 6780599 h 6858000"/>
              <a:gd name="connsiteX10" fmla="*/ 882543 w 2756893"/>
              <a:gd name="connsiteY10" fmla="*/ 6374814 h 6858000"/>
              <a:gd name="connsiteX11" fmla="*/ 2756893 w 2756893"/>
              <a:gd name="connsiteY11" fmla="*/ 3621656 h 6858000"/>
              <a:gd name="connsiteX12" fmla="*/ 1155994 w 2756893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6893" h="6858000">
                <a:moveTo>
                  <a:pt x="1133870" y="0"/>
                </a:moveTo>
                <a:lnTo>
                  <a:pt x="898082" y="0"/>
                </a:lnTo>
                <a:lnTo>
                  <a:pt x="920668" y="14997"/>
                </a:lnTo>
                <a:cubicBezTo>
                  <a:pt x="1969257" y="754641"/>
                  <a:pt x="2554961" y="2093192"/>
                  <a:pt x="2554961" y="3621656"/>
                </a:cubicBezTo>
                <a:cubicBezTo>
                  <a:pt x="2554961" y="4969131"/>
                  <a:pt x="1606863" y="5602839"/>
                  <a:pt x="641513" y="6374814"/>
                </a:cubicBezTo>
                <a:cubicBezTo>
                  <a:pt x="465717" y="6515397"/>
                  <a:pt x="291531" y="6653108"/>
                  <a:pt x="114086" y="6780599"/>
                </a:cubicBezTo>
                <a:lnTo>
                  <a:pt x="0" y="6858000"/>
                </a:lnTo>
                <a:lnTo>
                  <a:pt x="40637" y="6858000"/>
                </a:lnTo>
                <a:lnTo>
                  <a:pt x="254139" y="6858000"/>
                </a:lnTo>
                <a:lnTo>
                  <a:pt x="365895" y="6780599"/>
                </a:lnTo>
                <a:cubicBezTo>
                  <a:pt x="539713" y="6653108"/>
                  <a:pt x="710340" y="6515397"/>
                  <a:pt x="882543" y="6374814"/>
                </a:cubicBezTo>
                <a:cubicBezTo>
                  <a:pt x="1828168" y="5602839"/>
                  <a:pt x="2756893" y="4969131"/>
                  <a:pt x="2756893" y="3621656"/>
                </a:cubicBezTo>
                <a:cubicBezTo>
                  <a:pt x="2756893" y="2093192"/>
                  <a:pt x="2183157" y="754641"/>
                  <a:pt x="115599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11A17F-DE30-70DE-003E-AA30F7D5904B}"/>
              </a:ext>
            </a:extLst>
          </p:cNvPr>
          <p:cNvSpPr/>
          <p:nvPr/>
        </p:nvSpPr>
        <p:spPr>
          <a:xfrm>
            <a:off x="-129786" y="-70792"/>
            <a:ext cx="12424041" cy="7037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A09400C-13E5-FDBF-EE91-A793DDBC1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16" y="5204891"/>
            <a:ext cx="4294557" cy="113845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E2F3E70-115B-DDBB-1F2D-03AB9958A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478" y="5396681"/>
            <a:ext cx="3881774" cy="73693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AD64957-1D74-11A4-3BE3-FD195437C684}"/>
              </a:ext>
            </a:extLst>
          </p:cNvPr>
          <p:cNvSpPr txBox="1"/>
          <p:nvPr/>
        </p:nvSpPr>
        <p:spPr>
          <a:xfrm>
            <a:off x="1305070" y="1464293"/>
            <a:ext cx="955432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Formation</a:t>
            </a:r>
            <a:endParaRPr kumimoji="0" lang="fr-FR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nson" pitchFamily="50" charset="0"/>
                <a:ea typeface="+mn-ea"/>
                <a:cs typeface="+mn-cs"/>
              </a:rPr>
              <a:t>rTMS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03/04/24</a:t>
            </a:r>
            <a:endParaRPr kumimoji="0" lang="fr-FR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01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92119B9-FF91-E766-03EF-D0166BE4AAF0}"/>
              </a:ext>
            </a:extLst>
          </p:cNvPr>
          <p:cNvSpPr/>
          <p:nvPr/>
        </p:nvSpPr>
        <p:spPr>
          <a:xfrm>
            <a:off x="3254188" y="760506"/>
            <a:ext cx="5683624" cy="5336988"/>
          </a:xfrm>
          <a:prstGeom prst="ellipse">
            <a:avLst/>
          </a:prstGeom>
          <a:solidFill>
            <a:srgbClr val="030904">
              <a:alpha val="5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4E537BE-66E6-78DF-EADF-A5E05FC712F5}"/>
              </a:ext>
            </a:extLst>
          </p:cNvPr>
          <p:cNvSpPr txBox="1"/>
          <p:nvPr/>
        </p:nvSpPr>
        <p:spPr>
          <a:xfrm>
            <a:off x="4754386" y="2651426"/>
            <a:ext cx="28263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son" pitchFamily="50" charset="0"/>
                <a:ea typeface="+mn-ea"/>
                <a:cs typeface="+mn-cs"/>
              </a:rPr>
              <a:t>Test n°1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39E4D68-C681-7560-67BD-7EA660355C0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252525"/>
              </a:clrFrom>
              <a:clrTo>
                <a:srgbClr val="252525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05419" y="3571425"/>
            <a:ext cx="1581162" cy="178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6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C0557E49-037F-F7B2-7AF3-57C4B4A2F678}"/>
              </a:ext>
            </a:extLst>
          </p:cNvPr>
          <p:cNvSpPr/>
          <p:nvPr/>
        </p:nvSpPr>
        <p:spPr>
          <a:xfrm>
            <a:off x="-1745759" y="-3774279"/>
            <a:ext cx="15683518" cy="14406557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AF59FFC3-38EE-8FC0-BCA2-C8AA9E0AA5E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252525"/>
              </a:clrFrom>
              <a:clrTo>
                <a:srgbClr val="252525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76981" y="7351124"/>
            <a:ext cx="1581162" cy="17811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F61223-AED2-AB7F-956E-8C1640ED12C4}"/>
              </a:ext>
            </a:extLst>
          </p:cNvPr>
          <p:cNvSpPr/>
          <p:nvPr/>
        </p:nvSpPr>
        <p:spPr>
          <a:xfrm>
            <a:off x="-129786" y="-70792"/>
            <a:ext cx="12424041" cy="70379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ABB82CB-2E83-B6C7-8E6A-A9B00FDE7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946" y="1401269"/>
            <a:ext cx="3838575" cy="383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722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92119B9-FF91-E766-03EF-D0166BE4AAF0}"/>
              </a:ext>
            </a:extLst>
          </p:cNvPr>
          <p:cNvSpPr/>
          <p:nvPr/>
        </p:nvSpPr>
        <p:spPr>
          <a:xfrm>
            <a:off x="3254188" y="760506"/>
            <a:ext cx="5683624" cy="5336988"/>
          </a:xfrm>
          <a:prstGeom prst="ellipse">
            <a:avLst/>
          </a:prstGeom>
          <a:solidFill>
            <a:srgbClr val="030904">
              <a:alpha val="50000"/>
            </a:srgbClr>
          </a:solidFill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4E537BE-66E6-78DF-EADF-A5E05FC712F5}"/>
              </a:ext>
            </a:extLst>
          </p:cNvPr>
          <p:cNvSpPr txBox="1"/>
          <p:nvPr/>
        </p:nvSpPr>
        <p:spPr>
          <a:xfrm>
            <a:off x="4316740" y="1941027"/>
            <a:ext cx="36793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son" pitchFamily="50" charset="0"/>
                <a:ea typeface="+mn-ea"/>
                <a:cs typeface="+mn-cs"/>
              </a:rPr>
              <a:t>Formation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son" pitchFamily="50" charset="0"/>
                <a:ea typeface="+mn-ea"/>
                <a:cs typeface="+mn-cs"/>
              </a:rPr>
              <a:t>théorique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raphique 3" descr="Bobine de film contour">
            <a:extLst>
              <a:ext uri="{FF2B5EF4-FFF2-40B4-BE49-F238E27FC236}">
                <a16:creationId xmlns:a16="http://schemas.microsoft.com/office/drawing/2014/main" id="{A0E5612C-0589-1466-324E-449700C2FE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1241" y="3121532"/>
            <a:ext cx="1804916" cy="180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33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smiling man in a modern armchair, with a neurostimulation device on his head, energy flowing to his brain, he's happy, belgian comic book style,">
            <a:extLst>
              <a:ext uri="{FF2B5EF4-FFF2-40B4-BE49-F238E27FC236}">
                <a16:creationId xmlns:a16="http://schemas.microsoft.com/office/drawing/2014/main" id="{91E80C8F-37DB-62D3-9659-E792239A3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12192000" cy="683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5240544"/>
            <a:ext cx="12192000" cy="1349598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0970" y="5240544"/>
            <a:ext cx="10951366" cy="75207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sz="4000" b="1" cap="small" dirty="0">
                <a:solidFill>
                  <a:schemeClr val="bg1"/>
                </a:solidFill>
              </a:rPr>
              <a:t>R</a:t>
            </a:r>
            <a:r>
              <a:rPr lang="en-CA" sz="4000" cap="small" dirty="0">
                <a:solidFill>
                  <a:schemeClr val="bg1"/>
                </a:solidFill>
              </a:rPr>
              <a:t>epetitive</a:t>
            </a:r>
            <a:r>
              <a:rPr lang="en-CA" sz="4000" dirty="0">
                <a:solidFill>
                  <a:schemeClr val="bg1"/>
                </a:solidFill>
              </a:rPr>
              <a:t> </a:t>
            </a:r>
            <a:r>
              <a:rPr lang="en-CA" sz="4000" b="1" dirty="0">
                <a:solidFill>
                  <a:schemeClr val="bg1"/>
                </a:solidFill>
              </a:rPr>
              <a:t>T</a:t>
            </a:r>
            <a:r>
              <a:rPr lang="en-CA" sz="4000" dirty="0">
                <a:solidFill>
                  <a:schemeClr val="bg1"/>
                </a:solidFill>
              </a:rPr>
              <a:t>ranscranial </a:t>
            </a:r>
            <a:r>
              <a:rPr lang="en-CA" sz="4000" b="1" dirty="0">
                <a:solidFill>
                  <a:schemeClr val="bg1"/>
                </a:solidFill>
              </a:rPr>
              <a:t>M</a:t>
            </a:r>
            <a:r>
              <a:rPr lang="en-CA" sz="4000" dirty="0">
                <a:solidFill>
                  <a:schemeClr val="bg1"/>
                </a:solidFill>
              </a:rPr>
              <a:t>agnetic </a:t>
            </a:r>
            <a:r>
              <a:rPr lang="en-CA" sz="4000" b="1" dirty="0">
                <a:solidFill>
                  <a:schemeClr val="bg1"/>
                </a:solidFill>
              </a:rPr>
              <a:t>S</a:t>
            </a:r>
            <a:r>
              <a:rPr lang="en-CA" sz="4000" dirty="0">
                <a:solidFill>
                  <a:schemeClr val="bg1"/>
                </a:solidFill>
              </a:rPr>
              <a:t>timulation</a:t>
            </a:r>
            <a:endParaRPr lang="en-CA" sz="3600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9E698C7-E7A4-484A-930A-0BC5B64358D5}"/>
              </a:ext>
            </a:extLst>
          </p:cNvPr>
          <p:cNvSpPr txBox="1"/>
          <p:nvPr/>
        </p:nvSpPr>
        <p:spPr>
          <a:xfrm>
            <a:off x="655989" y="6193670"/>
            <a:ext cx="1851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20/05/2022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37C607C-E55A-4F9A-80FE-0FA3862B438F}"/>
              </a:ext>
            </a:extLst>
          </p:cNvPr>
          <p:cNvSpPr txBox="1"/>
          <p:nvPr/>
        </p:nvSpPr>
        <p:spPr>
          <a:xfrm>
            <a:off x="880970" y="5918188"/>
            <a:ext cx="5233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INTRODUCTION A LA TECHNIQUE DE rTMS </a:t>
            </a:r>
            <a:endParaRPr kumimoji="0" lang="en-GB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F12F688-4C5D-CD87-4743-DDC70575AF6F}"/>
              </a:ext>
            </a:extLst>
          </p:cNvPr>
          <p:cNvSpPr txBox="1"/>
          <p:nvPr/>
        </p:nvSpPr>
        <p:spPr>
          <a:xfrm>
            <a:off x="3160413" y="6212965"/>
            <a:ext cx="6291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SAINT-ANTOINE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32A2E8C-E5C6-CAE9-D5A3-A557C067F229}"/>
              </a:ext>
            </a:extLst>
          </p:cNvPr>
          <p:cNvSpPr txBox="1"/>
          <p:nvPr/>
        </p:nvSpPr>
        <p:spPr>
          <a:xfrm>
            <a:off x="579297" y="379310"/>
            <a:ext cx="242362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son" pitchFamily="50" charset="0"/>
                <a:ea typeface="+mn-ea"/>
                <a:cs typeface="+mn-cs"/>
              </a:rPr>
              <a:t>NeuroStim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8A12C6-7322-B47F-A25F-6913B331172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252525"/>
              </a:clrFrom>
              <a:clrTo>
                <a:srgbClr val="252525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298" y="202665"/>
            <a:ext cx="601069" cy="677108"/>
          </a:xfrm>
          <a:prstGeom prst="rect">
            <a:avLst/>
          </a:prstGeom>
          <a:ln>
            <a:noFill/>
          </a:ln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E1523C97-AC36-13F8-5239-2CEA3BCFF4B6}"/>
              </a:ext>
            </a:extLst>
          </p:cNvPr>
          <p:cNvSpPr/>
          <p:nvPr/>
        </p:nvSpPr>
        <p:spPr>
          <a:xfrm>
            <a:off x="-1998630" y="-4171950"/>
            <a:ext cx="16189260" cy="15201900"/>
          </a:xfrm>
          <a:prstGeom prst="ellipse">
            <a:avLst/>
          </a:prstGeom>
          <a:solidFill>
            <a:srgbClr val="030904">
              <a:alpha val="0"/>
            </a:srgbClr>
          </a:solidFill>
          <a:ln w="1270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487FA78-DC2A-F611-26EF-B06D920BA3B4}"/>
              </a:ext>
            </a:extLst>
          </p:cNvPr>
          <p:cNvSpPr txBox="1"/>
          <p:nvPr/>
        </p:nvSpPr>
        <p:spPr>
          <a:xfrm>
            <a:off x="5191241" y="-1173648"/>
            <a:ext cx="19303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son" pitchFamily="50" charset="0"/>
                <a:ea typeface="+mn-ea"/>
                <a:cs typeface="+mn-cs"/>
              </a:rPr>
              <a:t>rTMS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Graphique 13" descr="Bobine de film contour">
            <a:extLst>
              <a:ext uri="{FF2B5EF4-FFF2-40B4-BE49-F238E27FC236}">
                <a16:creationId xmlns:a16="http://schemas.microsoft.com/office/drawing/2014/main" id="{A3E9B7D6-A692-0540-5C49-B20BACF397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1241" y="7179182"/>
            <a:ext cx="1804916" cy="180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72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94CBC5-9B02-D04C-929E-54C20C87F8C8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72116" y="201706"/>
            <a:ext cx="8153400" cy="990600"/>
          </a:xfrm>
        </p:spPr>
        <p:txBody>
          <a:bodyPr/>
          <a:lstStyle/>
          <a:p>
            <a:pPr eaLnBrk="1" hangingPunct="1"/>
            <a:r>
              <a:rPr lang="fr-FR" altLang="fr-FR" dirty="0">
                <a:solidFill>
                  <a:srgbClr val="103A8C"/>
                </a:solidFill>
              </a:rPr>
              <a:t>Pourquoi la rTMS ?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272116" y="2008094"/>
            <a:ext cx="11233344" cy="4648200"/>
          </a:xfrm>
        </p:spPr>
        <p:txBody>
          <a:bodyPr/>
          <a:lstStyle/>
          <a:p>
            <a:pPr eaLnBrk="1" hangingPunct="1"/>
            <a:r>
              <a:rPr lang="fr-FR" altLang="fr-FR" dirty="0"/>
              <a:t>40% d’efficacité des ATD en 1</a:t>
            </a:r>
            <a:r>
              <a:rPr lang="fr-FR" altLang="fr-FR" baseline="30000" dirty="0"/>
              <a:t>ère</a:t>
            </a:r>
            <a:r>
              <a:rPr lang="fr-FR" altLang="fr-FR" dirty="0"/>
              <a:t> ligne pour la dépression</a:t>
            </a:r>
          </a:p>
          <a:p>
            <a:pPr eaLnBrk="1" hangingPunct="1"/>
            <a:r>
              <a:rPr lang="fr-FR" altLang="fr-FR" dirty="0"/>
              <a:t>25% d’efficacité des ATD en 1</a:t>
            </a:r>
            <a:r>
              <a:rPr lang="fr-FR" altLang="fr-FR" baseline="30000" dirty="0"/>
              <a:t>ère</a:t>
            </a:r>
            <a:r>
              <a:rPr lang="fr-FR" altLang="fr-FR" dirty="0"/>
              <a:t> ligne pour le PTSD</a:t>
            </a:r>
          </a:p>
          <a:p>
            <a:pPr eaLnBrk="1" hangingPunct="1"/>
            <a:r>
              <a:rPr lang="fr-FR" altLang="fr-FR" dirty="0"/>
              <a:t>30% de schizophrénie résistantes, dont 30% d’ultra-résistantes </a:t>
            </a:r>
          </a:p>
          <a:p>
            <a:pPr eaLnBrk="1" hangingPunct="1"/>
            <a:r>
              <a:rPr lang="fr-FR" altLang="fr-FR" dirty="0"/>
              <a:t>Efficacité modérée de la pharmacothérapie dans les addictions</a:t>
            </a:r>
          </a:p>
          <a:p>
            <a:pPr eaLnBrk="1" hangingPunct="1"/>
            <a:r>
              <a:rPr lang="fr-FR" altLang="fr-FR" dirty="0"/>
              <a:t>Etc.</a:t>
            </a:r>
          </a:p>
          <a:p>
            <a:pPr marL="0" indent="0" eaLnBrk="1" hangingPunct="1">
              <a:buNone/>
            </a:pPr>
            <a:endParaRPr lang="fr-FR" altLang="fr-FR" dirty="0"/>
          </a:p>
          <a:p>
            <a:pPr marL="0" indent="0" eaLnBrk="1" hangingPunct="1">
              <a:buNone/>
            </a:pPr>
            <a:r>
              <a:rPr lang="fr-FR" altLang="fr-FR" dirty="0"/>
              <a:t>Demande des patients et des médecins de nouvelles voies thérapeutiques : refus des médicaments, effets indésirables des </a:t>
            </a:r>
            <a:r>
              <a:rPr lang="fr-FR" altLang="fr-FR" dirty="0" err="1"/>
              <a:t>ttt</a:t>
            </a:r>
            <a:r>
              <a:rPr lang="fr-FR" altLang="fr-FR" dirty="0"/>
              <a:t>, etc. </a:t>
            </a:r>
          </a:p>
          <a:p>
            <a:pPr marL="0" indent="0" eaLnBrk="1" hangingPunct="1">
              <a:buNone/>
            </a:pPr>
            <a:endParaRPr lang="fr-FR" alt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fr-FR" alt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CA" altLang="fr-FR" dirty="0"/>
          </a:p>
        </p:txBody>
      </p:sp>
    </p:spTree>
    <p:extLst>
      <p:ext uri="{BB962C8B-B14F-4D97-AF65-F5344CB8AC3E}">
        <p14:creationId xmlns:p14="http://schemas.microsoft.com/office/powerpoint/2010/main" val="3582479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754FC9-2ED4-F91A-AA87-E9ABD903B12C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72116" y="201706"/>
            <a:ext cx="8153400" cy="990600"/>
          </a:xfrm>
        </p:spPr>
        <p:txBody>
          <a:bodyPr/>
          <a:lstStyle/>
          <a:p>
            <a:pPr eaLnBrk="1" hangingPunct="1"/>
            <a:r>
              <a:rPr lang="fr-FR" altLang="fr-FR" dirty="0">
                <a:solidFill>
                  <a:srgbClr val="103A8C"/>
                </a:solidFill>
              </a:rPr>
              <a:t>Pourquoi la rTMS ?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272116" y="2008094"/>
            <a:ext cx="11233344" cy="4648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fr-FR" altLang="fr-FR" dirty="0"/>
              <a:t>Dans les autres spécialités, de nombreuses questions :</a:t>
            </a:r>
          </a:p>
          <a:p>
            <a:pPr eaLnBrk="1" hangingPunct="1"/>
            <a:r>
              <a:rPr lang="fr-FR" altLang="fr-FR" dirty="0"/>
              <a:t>Douleurs ? Neuro-réhabilitation ? Cognitive </a:t>
            </a:r>
            <a:r>
              <a:rPr lang="fr-FR" altLang="fr-FR" dirty="0" err="1"/>
              <a:t>enhancement</a:t>
            </a:r>
            <a:r>
              <a:rPr lang="fr-FR" altLang="fr-FR" dirty="0"/>
              <a:t> ?  </a:t>
            </a:r>
          </a:p>
          <a:p>
            <a:pPr eaLnBrk="1" hangingPunct="1"/>
            <a:r>
              <a:rPr lang="fr-FR" altLang="fr-FR" dirty="0"/>
              <a:t>Types de douleurs ? Type d’AVC ? </a:t>
            </a:r>
          </a:p>
          <a:p>
            <a:pPr eaLnBrk="1" hangingPunct="1"/>
            <a:r>
              <a:rPr lang="fr-FR" altLang="fr-FR" dirty="0"/>
              <a:t>Efficacité des traitements ? </a:t>
            </a:r>
          </a:p>
          <a:p>
            <a:pPr eaLnBrk="1" hangingPunct="1"/>
            <a:r>
              <a:rPr lang="fr-FR" altLang="fr-FR" dirty="0"/>
              <a:t>Etc. </a:t>
            </a:r>
          </a:p>
          <a:p>
            <a:pPr marL="0" indent="0" eaLnBrk="1" hangingPunct="1">
              <a:buNone/>
            </a:pPr>
            <a:endParaRPr lang="fr-FR" altLang="fr-FR" dirty="0"/>
          </a:p>
          <a:p>
            <a:pPr marL="0" indent="0" eaLnBrk="1" hangingPunct="1">
              <a:buNone/>
            </a:pPr>
            <a:endParaRPr lang="fr-FR" alt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fr-FR" alt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CA" altLang="fr-FR" dirty="0"/>
          </a:p>
        </p:txBody>
      </p:sp>
    </p:spTree>
    <p:extLst>
      <p:ext uri="{BB962C8B-B14F-4D97-AF65-F5344CB8AC3E}">
        <p14:creationId xmlns:p14="http://schemas.microsoft.com/office/powerpoint/2010/main" val="1699770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E42201-6DBE-4448-5C63-D5B34409690A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72116" y="201706"/>
            <a:ext cx="9522124" cy="990600"/>
          </a:xfrm>
        </p:spPr>
        <p:txBody>
          <a:bodyPr/>
          <a:lstStyle/>
          <a:p>
            <a:pPr eaLnBrk="1" hangingPunct="1"/>
            <a:r>
              <a:rPr lang="fr-FR" altLang="fr-FR" dirty="0">
                <a:solidFill>
                  <a:srgbClr val="103A8C"/>
                </a:solidFill>
              </a:rPr>
              <a:t>Objectifs et Questionnements pratiques ?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272116" y="1777275"/>
            <a:ext cx="11233344" cy="4648200"/>
          </a:xfrm>
        </p:spPr>
        <p:txBody>
          <a:bodyPr/>
          <a:lstStyle/>
          <a:p>
            <a:pPr eaLnBrk="1" hangingPunct="1"/>
            <a:r>
              <a:rPr lang="fr-FR" altLang="fr-FR" dirty="0"/>
              <a:t>Participer au plateau technique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dirty="0"/>
              <a:t>Intégré dans un parcours de soin patient 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dirty="0"/>
              <a:t>Intégré dans des algorithmes thérapeutiques 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dirty="0"/>
              <a:t>Avec des liens Clinique – Recherche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b="1" dirty="0"/>
              <a:t>Nécessitant une mise à jour des connaissances régulière </a:t>
            </a:r>
          </a:p>
          <a:p>
            <a:pPr eaLnBrk="1" hangingPunct="1"/>
            <a:endParaRPr lang="fr-FR" alt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CA" alt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A1F968D-9C9A-D797-085E-E420B1FD9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0478" y="2913954"/>
            <a:ext cx="3227523" cy="21103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45DC792-B4B3-A64F-B1D2-DD856828F02B}"/>
              </a:ext>
            </a:extLst>
          </p:cNvPr>
          <p:cNvSpPr/>
          <p:nvPr/>
        </p:nvSpPr>
        <p:spPr>
          <a:xfrm>
            <a:off x="8059265" y="2860873"/>
            <a:ext cx="1341783" cy="8448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4C33A9F-BEBE-881B-6FC6-E9E7DD61583B}"/>
              </a:ext>
            </a:extLst>
          </p:cNvPr>
          <p:cNvSpPr txBox="1"/>
          <p:nvPr/>
        </p:nvSpPr>
        <p:spPr>
          <a:xfrm>
            <a:off x="10786434" y="2676207"/>
            <a:ext cx="844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7B7B7B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1596</a:t>
            </a:r>
          </a:p>
        </p:txBody>
      </p:sp>
    </p:spTree>
    <p:extLst>
      <p:ext uri="{BB962C8B-B14F-4D97-AF65-F5344CB8AC3E}">
        <p14:creationId xmlns:p14="http://schemas.microsoft.com/office/powerpoint/2010/main" val="3401304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EFA3C2-7507-AFD6-7EFF-C7FAC63BD292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72116" y="201706"/>
            <a:ext cx="8153400" cy="990600"/>
          </a:xfrm>
        </p:spPr>
        <p:txBody>
          <a:bodyPr/>
          <a:lstStyle/>
          <a:p>
            <a:pPr eaLnBrk="1" hangingPunct="1"/>
            <a:r>
              <a:rPr lang="fr-FR" altLang="fr-FR" dirty="0">
                <a:solidFill>
                  <a:srgbClr val="103A8C"/>
                </a:solidFill>
              </a:rPr>
              <a:t>Quelques abréviations 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3215341" y="1789019"/>
            <a:ext cx="6633509" cy="4648200"/>
          </a:xfrm>
        </p:spPr>
        <p:txBody>
          <a:bodyPr/>
          <a:lstStyle/>
          <a:p>
            <a:pPr eaLnBrk="1" hangingPunct="1"/>
            <a:r>
              <a:rPr lang="fr-FR" altLang="fr-FR" b="1" dirty="0"/>
              <a:t>TMS</a:t>
            </a:r>
            <a:r>
              <a:rPr lang="fr-FR" altLang="fr-FR" dirty="0"/>
              <a:t> : impulsion unique </a:t>
            </a:r>
          </a:p>
          <a:p>
            <a:pPr eaLnBrk="1" hangingPunct="1"/>
            <a:r>
              <a:rPr lang="fr-FR" altLang="fr-FR" b="1" dirty="0"/>
              <a:t>rTMS</a:t>
            </a:r>
            <a:r>
              <a:rPr lang="fr-FR" altLang="fr-FR" dirty="0"/>
              <a:t> : impulsions répétés</a:t>
            </a:r>
          </a:p>
          <a:p>
            <a:pPr eaLnBrk="1" hangingPunct="1"/>
            <a:r>
              <a:rPr lang="fr-FR" altLang="fr-FR" b="1" dirty="0" err="1"/>
              <a:t>DeepTMS</a:t>
            </a:r>
            <a:r>
              <a:rPr lang="fr-FR" altLang="fr-FR" dirty="0"/>
              <a:t> : TMS utilisant une bobine H</a:t>
            </a:r>
          </a:p>
          <a:p>
            <a:pPr eaLnBrk="1" hangingPunct="1"/>
            <a:r>
              <a:rPr lang="fr-FR" altLang="fr-FR" b="1" dirty="0" err="1"/>
              <a:t>iTBS</a:t>
            </a:r>
            <a:r>
              <a:rPr lang="fr-FR" altLang="fr-FR" dirty="0"/>
              <a:t> : </a:t>
            </a:r>
            <a:r>
              <a:rPr lang="fr-FR" altLang="fr-FR" dirty="0" err="1"/>
              <a:t>Theta</a:t>
            </a:r>
            <a:r>
              <a:rPr lang="fr-FR" altLang="fr-FR" dirty="0"/>
              <a:t> </a:t>
            </a:r>
            <a:r>
              <a:rPr lang="fr-FR" altLang="fr-FR" dirty="0" err="1"/>
              <a:t>Burst</a:t>
            </a:r>
            <a:r>
              <a:rPr lang="fr-FR" altLang="fr-FR" dirty="0"/>
              <a:t> Intermittent </a:t>
            </a:r>
          </a:p>
          <a:p>
            <a:pPr eaLnBrk="1" hangingPunct="1"/>
            <a:r>
              <a:rPr lang="fr-FR" altLang="fr-FR" b="1" dirty="0" err="1"/>
              <a:t>cTBS</a:t>
            </a:r>
            <a:r>
              <a:rPr lang="fr-FR" altLang="fr-FR" dirty="0"/>
              <a:t> : </a:t>
            </a:r>
            <a:r>
              <a:rPr lang="fr-FR" altLang="fr-FR" dirty="0" err="1"/>
              <a:t>Theta</a:t>
            </a:r>
            <a:r>
              <a:rPr lang="fr-FR" altLang="fr-FR" dirty="0"/>
              <a:t> </a:t>
            </a:r>
            <a:r>
              <a:rPr lang="fr-FR" altLang="fr-FR" dirty="0" err="1"/>
              <a:t>Burst</a:t>
            </a:r>
            <a:r>
              <a:rPr lang="fr-FR" altLang="fr-FR" dirty="0"/>
              <a:t> Continue </a:t>
            </a:r>
          </a:p>
          <a:p>
            <a:pPr eaLnBrk="1" hangingPunct="1"/>
            <a:r>
              <a:rPr lang="fr-FR" altLang="fr-FR" b="1" dirty="0" err="1"/>
              <a:t>aTMS</a:t>
            </a:r>
            <a:r>
              <a:rPr lang="fr-FR" altLang="fr-FR" dirty="0"/>
              <a:t> ou </a:t>
            </a:r>
            <a:r>
              <a:rPr lang="fr-FR" altLang="fr-FR" b="1" dirty="0" err="1"/>
              <a:t>aiTBS</a:t>
            </a:r>
            <a:r>
              <a:rPr lang="fr-FR" altLang="fr-FR" dirty="0"/>
              <a:t> : </a:t>
            </a:r>
            <a:r>
              <a:rPr lang="fr-FR" altLang="fr-FR" dirty="0" err="1"/>
              <a:t>Accelerated</a:t>
            </a:r>
            <a:r>
              <a:rPr lang="fr-FR" altLang="fr-FR" dirty="0"/>
              <a:t> TMS</a:t>
            </a:r>
          </a:p>
          <a:p>
            <a:pPr eaLnBrk="1" hangingPunct="1"/>
            <a:r>
              <a:rPr lang="fr-FR" altLang="fr-FR" b="1" dirty="0" err="1"/>
              <a:t>bTMS</a:t>
            </a:r>
            <a:r>
              <a:rPr lang="fr-FR" altLang="fr-FR" dirty="0"/>
              <a:t> : </a:t>
            </a:r>
            <a:r>
              <a:rPr lang="fr-FR" altLang="fr-FR" dirty="0" err="1"/>
              <a:t>Bilateral</a:t>
            </a:r>
            <a:r>
              <a:rPr lang="fr-FR" altLang="fr-FR" dirty="0"/>
              <a:t> TMS</a:t>
            </a:r>
          </a:p>
          <a:p>
            <a:pPr eaLnBrk="1" hangingPunct="1"/>
            <a:r>
              <a:rPr lang="fr-FR" altLang="fr-FR" b="1" dirty="0" err="1"/>
              <a:t>mTMS</a:t>
            </a:r>
            <a:r>
              <a:rPr lang="fr-FR" altLang="fr-FR" dirty="0"/>
              <a:t> : Multisite TMS</a:t>
            </a:r>
          </a:p>
          <a:p>
            <a:pPr marL="0" indent="0" eaLnBrk="1" hangingPunct="1">
              <a:buNone/>
            </a:pPr>
            <a:endParaRPr lang="fr-FR" alt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fr-FR" alt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CA" altLang="fr-FR" dirty="0"/>
          </a:p>
        </p:txBody>
      </p:sp>
    </p:spTree>
    <p:extLst>
      <p:ext uri="{BB962C8B-B14F-4D97-AF65-F5344CB8AC3E}">
        <p14:creationId xmlns:p14="http://schemas.microsoft.com/office/powerpoint/2010/main" val="193061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D3DAB1-2A7B-C2DA-A979-21BEADC3153B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72116" y="201706"/>
            <a:ext cx="8153400" cy="990600"/>
          </a:xfrm>
        </p:spPr>
        <p:txBody>
          <a:bodyPr/>
          <a:lstStyle/>
          <a:p>
            <a:pPr eaLnBrk="1" hangingPunct="1"/>
            <a:r>
              <a:rPr lang="fr-FR" altLang="fr-FR" dirty="0"/>
              <a:t>Sommaire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829900" y="1523462"/>
            <a:ext cx="9383948" cy="4868194"/>
          </a:xfrm>
        </p:spPr>
        <p:txBody>
          <a:bodyPr/>
          <a:lstStyle/>
          <a:p>
            <a:pPr eaLnBrk="1" hangingPunct="1"/>
            <a:r>
              <a:rPr lang="fr-FR" altLang="fr-FR" b="1" dirty="0"/>
              <a:t>Généralités </a:t>
            </a:r>
            <a:endParaRPr lang="fr-FR" altLang="fr-FR" dirty="0"/>
          </a:p>
          <a:p>
            <a:pPr eaLnBrk="1" hangingPunct="1"/>
            <a:r>
              <a:rPr lang="fr-FR" altLang="fr-FR" b="1" dirty="0"/>
              <a:t>Indications en psychiatrie</a:t>
            </a:r>
          </a:p>
          <a:p>
            <a:pPr eaLnBrk="1" hangingPunct="1"/>
            <a:r>
              <a:rPr lang="fr-FR" altLang="fr-FR" b="1" dirty="0"/>
              <a:t>Hypothèses sur le mode d’action dans la dépression</a:t>
            </a:r>
          </a:p>
          <a:p>
            <a:pPr eaLnBrk="1" hangingPunct="1"/>
            <a:r>
              <a:rPr lang="fr-FR" altLang="fr-FR" b="1" dirty="0"/>
              <a:t>Indication non psychiatriques</a:t>
            </a:r>
          </a:p>
          <a:p>
            <a:pPr eaLnBrk="1" hangingPunct="1"/>
            <a:r>
              <a:rPr lang="fr-FR" altLang="fr-FR" b="1" dirty="0"/>
              <a:t>Place dans « l’escalade thérapeutique » </a:t>
            </a:r>
          </a:p>
          <a:p>
            <a:pPr eaLnBrk="1" hangingPunct="1"/>
            <a:r>
              <a:rPr lang="fr-FR" altLang="fr-FR" b="1" dirty="0"/>
              <a:t>L’avenir de la rTMS</a:t>
            </a:r>
          </a:p>
          <a:p>
            <a:pPr eaLnBrk="1" hangingPunct="1"/>
            <a:endParaRPr lang="fr-FR" altLang="fr-F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CA" altLang="fr-FR" dirty="0"/>
          </a:p>
        </p:txBody>
      </p:sp>
    </p:spTree>
    <p:extLst>
      <p:ext uri="{BB962C8B-B14F-4D97-AF65-F5344CB8AC3E}">
        <p14:creationId xmlns:p14="http://schemas.microsoft.com/office/powerpoint/2010/main" val="263098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AAF8AB7-6E6D-56F6-5C43-31DF7D8F0D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26" t="11401" r="11087" b="6537"/>
          <a:stretch/>
        </p:blipFill>
        <p:spPr>
          <a:xfrm>
            <a:off x="-76200" y="-228600"/>
            <a:ext cx="12592050" cy="76104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FD37D6-209F-118C-24C4-11E1352030B5}"/>
              </a:ext>
            </a:extLst>
          </p:cNvPr>
          <p:cNvSpPr/>
          <p:nvPr/>
        </p:nvSpPr>
        <p:spPr>
          <a:xfrm>
            <a:off x="-15032" y="-69679"/>
            <a:ext cx="5043124" cy="6969041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nson" pitchFamily="50" charset="0"/>
                <a:ea typeface="+mn-ea"/>
                <a:cs typeface="+mn-cs"/>
              </a:rPr>
              <a:t>GENERALITES</a:t>
            </a:r>
          </a:p>
        </p:txBody>
      </p:sp>
    </p:spTree>
    <p:extLst>
      <p:ext uri="{BB962C8B-B14F-4D97-AF65-F5344CB8AC3E}">
        <p14:creationId xmlns:p14="http://schemas.microsoft.com/office/powerpoint/2010/main" val="2050909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74AEC3-D34F-610C-1263-4817CF1C9C84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D6ABF9-C8D2-440F-B2EF-2D68E248C275}"/>
              </a:ext>
            </a:extLst>
          </p:cNvPr>
          <p:cNvSpPr/>
          <p:nvPr/>
        </p:nvSpPr>
        <p:spPr>
          <a:xfrm>
            <a:off x="0" y="1112702"/>
            <a:ext cx="8153394" cy="5314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70899" y="438044"/>
            <a:ext cx="8153400" cy="990600"/>
          </a:xfrm>
        </p:spPr>
        <p:txBody>
          <a:bodyPr/>
          <a:lstStyle/>
          <a:p>
            <a:pPr eaLnBrk="1" hangingPunct="1"/>
            <a:r>
              <a:rPr lang="fr-FR" altLang="fr-FR" dirty="0"/>
              <a:t>Neurostimulation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62B91E0-1C88-425F-B94A-0075FD27C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833" y="132602"/>
            <a:ext cx="2584742" cy="207110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B08494C-E3F2-42F5-BF20-E5AB6FCC4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833" y="2483062"/>
            <a:ext cx="2733008" cy="176071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41061DD-D6B1-42E3-87B9-634D6F44CD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53" y="1734491"/>
            <a:ext cx="3193630" cy="250928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8F8222C-12C2-48F1-A269-29121E7274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30" y="4516819"/>
            <a:ext cx="3260153" cy="2139475"/>
          </a:xfrm>
          <a:prstGeom prst="rect">
            <a:avLst/>
          </a:prstGeom>
        </p:spPr>
      </p:pic>
      <p:pic>
        <p:nvPicPr>
          <p:cNvPr id="11" name="Picture 2" descr="Afficher l'image d'origine">
            <a:extLst>
              <a:ext uri="{FF2B5EF4-FFF2-40B4-BE49-F238E27FC236}">
                <a16:creationId xmlns:a16="http://schemas.microsoft.com/office/drawing/2014/main" id="{7645C849-A01C-44A3-9013-BC76D908D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918" y="399880"/>
            <a:ext cx="3894374" cy="2596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89E8747-05E8-43A5-B592-9F99685A48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7918" y="3797395"/>
            <a:ext cx="3894374" cy="277073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F6BC48B-FBCE-4796-B5DA-1973F9946012}"/>
              </a:ext>
            </a:extLst>
          </p:cNvPr>
          <p:cNvSpPr txBox="1"/>
          <p:nvPr/>
        </p:nvSpPr>
        <p:spPr>
          <a:xfrm>
            <a:off x="1158854" y="4195630"/>
            <a:ext cx="2480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INVASIVES = DBS / VNS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E80EB2D-DE25-4496-ACFA-ED1C6F11DC37}"/>
              </a:ext>
            </a:extLst>
          </p:cNvPr>
          <p:cNvSpPr txBox="1"/>
          <p:nvPr/>
        </p:nvSpPr>
        <p:spPr>
          <a:xfrm>
            <a:off x="5173940" y="4263170"/>
            <a:ext cx="18365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NON INVASIVES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CONVULSIVES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ECT / MST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BB119FD-920F-4D01-861B-6DB202CC9281}"/>
              </a:ext>
            </a:extLst>
          </p:cNvPr>
          <p:cNvSpPr txBox="1"/>
          <p:nvPr/>
        </p:nvSpPr>
        <p:spPr>
          <a:xfrm>
            <a:off x="7943712" y="3105834"/>
            <a:ext cx="3968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NON INVASIVES &amp; NON CONVULSIVES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= rTMS / </a:t>
            </a:r>
            <a:r>
              <a:rPr kumimoji="0" lang="fr-FR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tDCS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/ CES / USN / Etc.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FDCFAD9-7DCD-4EA2-BDE1-1F74BE1FBC1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2923" y="5239410"/>
            <a:ext cx="2501651" cy="1416884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011BDD0-F9A0-4A81-B475-EA0F624C286B}"/>
              </a:ext>
            </a:extLst>
          </p:cNvPr>
          <p:cNvCxnSpPr/>
          <p:nvPr/>
        </p:nvCxnSpPr>
        <p:spPr>
          <a:xfrm>
            <a:off x="4373217" y="2067339"/>
            <a:ext cx="0" cy="37868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C359DA64-9050-4E07-AC1E-5B27A176C899}"/>
              </a:ext>
            </a:extLst>
          </p:cNvPr>
          <p:cNvCxnSpPr/>
          <p:nvPr/>
        </p:nvCxnSpPr>
        <p:spPr>
          <a:xfrm>
            <a:off x="7785652" y="2067339"/>
            <a:ext cx="0" cy="37868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351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8E2103F-C0DA-721E-553E-BAC4B2F76895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7E7ACB-BA1A-4622-8267-39DBDDD26C15}"/>
              </a:ext>
            </a:extLst>
          </p:cNvPr>
          <p:cNvSpPr/>
          <p:nvPr/>
        </p:nvSpPr>
        <p:spPr>
          <a:xfrm>
            <a:off x="6778487" y="1192306"/>
            <a:ext cx="5141397" cy="4228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72116" y="201706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/>
              <a:t>Principe </a:t>
            </a:r>
            <a:r>
              <a:rPr lang="fr-FR" altLang="fr-FR" dirty="0"/>
              <a:t>théorique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272116" y="2008094"/>
            <a:ext cx="10826190" cy="4648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fr-FR" altLang="fr-FR" dirty="0"/>
              <a:t>Basé sur le principe </a:t>
            </a:r>
            <a:r>
              <a:rPr lang="fr-FR" altLang="fr-FR" b="1" dirty="0"/>
              <a:t>d’induction mutuelle </a:t>
            </a:r>
          </a:p>
          <a:p>
            <a:pPr marL="0" indent="0" eaLnBrk="1" hangingPunct="1">
              <a:buNone/>
            </a:pPr>
            <a:r>
              <a:rPr lang="en-CA" altLang="fr-FR" dirty="0"/>
              <a:t>Michael Faraday 1831 : </a:t>
            </a:r>
          </a:p>
          <a:p>
            <a:pPr marL="0" indent="0" algn="ctr" eaLnBrk="1" hangingPunct="1">
              <a:buNone/>
            </a:pPr>
            <a:endParaRPr lang="fr-FR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CA" alt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11EFBCF-6532-4A9B-91BA-4A4DEF75D2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9241" y="201706"/>
            <a:ext cx="5562600" cy="2705100"/>
          </a:xfrm>
          <a:prstGeom prst="rect">
            <a:avLst/>
          </a:prstGeom>
        </p:spPr>
      </p:pic>
      <p:pic>
        <p:nvPicPr>
          <p:cNvPr id="5" name="Picture 2" descr="RÃ©sultat de recherche d'images pour &quot;faraday&quot;">
            <a:extLst>
              <a:ext uri="{FF2B5EF4-FFF2-40B4-BE49-F238E27FC236}">
                <a16:creationId xmlns:a16="http://schemas.microsoft.com/office/drawing/2014/main" id="{B09E4CA3-F39D-45CD-B0ED-0693A122E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16" y="3267164"/>
            <a:ext cx="5972713" cy="338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04C963-D10C-4A0C-9F90-B87900EE935A}"/>
              </a:ext>
            </a:extLst>
          </p:cNvPr>
          <p:cNvSpPr/>
          <p:nvPr/>
        </p:nvSpPr>
        <p:spPr>
          <a:xfrm>
            <a:off x="6384178" y="3581220"/>
            <a:ext cx="5562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alt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 </a:t>
            </a: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Une variation de courant dans un circuit magnétique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peut entraîner l'apparition d'une tension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dans un autre circuit magnétique 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670288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03DB9B1-2A08-DC17-4984-2E876049DC30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72116" y="201706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/>
              <a:t>Principe </a:t>
            </a:r>
            <a:r>
              <a:rPr lang="fr-FR" altLang="fr-FR" dirty="0"/>
              <a:t>théorique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272116" y="2008094"/>
            <a:ext cx="10826190" cy="4648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fr-FR" altLang="fr-FR" dirty="0"/>
              <a:t>Basé sur le principe </a:t>
            </a:r>
            <a:r>
              <a:rPr lang="fr-FR" altLang="fr-FR" b="1" dirty="0"/>
              <a:t>d’induction mutuelle </a:t>
            </a:r>
          </a:p>
          <a:p>
            <a:pPr marL="0" indent="0" eaLnBrk="1" hangingPunct="1">
              <a:buNone/>
            </a:pPr>
            <a:r>
              <a:rPr lang="en-CA" altLang="fr-FR" dirty="0"/>
              <a:t>Michael Faraday 1831 : </a:t>
            </a:r>
          </a:p>
          <a:p>
            <a:pPr marL="0" indent="0" eaLnBrk="1" hangingPunct="1">
              <a:buNone/>
            </a:pPr>
            <a:endParaRPr lang="en-CA" altLang="fr-FR" dirty="0"/>
          </a:p>
          <a:p>
            <a:pPr marL="0" indent="0" algn="ctr" eaLnBrk="1" hangingPunct="1">
              <a:buNone/>
            </a:pPr>
            <a:endParaRPr lang="en-CA" alt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11EFBCF-6532-4A9B-91BA-4A4DEF75D2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79241" y="201706"/>
            <a:ext cx="5562600" cy="2705100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FA133C7B-559F-43BC-9BCE-8A6D3CD7EFB8}"/>
              </a:ext>
            </a:extLst>
          </p:cNvPr>
          <p:cNvSpPr/>
          <p:nvPr/>
        </p:nvSpPr>
        <p:spPr>
          <a:xfrm>
            <a:off x="272116" y="4792900"/>
            <a:ext cx="7700682" cy="155985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courant électrique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peut générer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champ magnétique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champ magnétique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peut générer un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courant électrique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951E8B-34EC-42A7-8B33-8511B5334E6B}"/>
              </a:ext>
            </a:extLst>
          </p:cNvPr>
          <p:cNvSpPr/>
          <p:nvPr/>
        </p:nvSpPr>
        <p:spPr>
          <a:xfrm>
            <a:off x="914400" y="3400336"/>
            <a:ext cx="10363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 courant alternatif généré dans une bobine 1 produit un champ magnétique orthogonal au plan de la bobine.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Ce champ magnétique génère lui un courant électrique dans une bobine 2 située à proximité immédiate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F986A83-D5A5-467B-9360-EE7AC7CF9DF6}"/>
              </a:ext>
            </a:extLst>
          </p:cNvPr>
          <p:cNvSpPr txBox="1"/>
          <p:nvPr/>
        </p:nvSpPr>
        <p:spPr>
          <a:xfrm>
            <a:off x="8210978" y="5064997"/>
            <a:ext cx="370890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Utiliser un champs </a:t>
            </a:r>
            <a:r>
              <a:rPr kumimoji="0" lang="fr-FR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magnétique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pour stimuler </a:t>
            </a:r>
            <a:r>
              <a:rPr kumimoji="0" lang="fr-FR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électriquement</a:t>
            </a:r>
            <a:r>
              <a:rPr kumimoji="0" lang="fr-FR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une zone cérébrale </a:t>
            </a:r>
            <a:r>
              <a:rPr kumimoji="0" lang="fr-FR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localisée 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»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0791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3F3240-C229-220C-C054-B21317B8D355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657598" y="143166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 err="1"/>
              <a:t>Mécanisme</a:t>
            </a:r>
            <a:r>
              <a:rPr lang="en-CA" altLang="fr-FR" dirty="0"/>
              <a:t> </a:t>
            </a:r>
            <a:r>
              <a:rPr lang="en-CA" altLang="fr-FR" dirty="0" err="1"/>
              <a:t>d’action</a:t>
            </a:r>
            <a:endParaRPr lang="en-CA" altLang="fr-FR" dirty="0"/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657597" y="1806299"/>
            <a:ext cx="10297273" cy="441047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CA" altLang="fr-FR" dirty="0"/>
              <a:t>Une </a:t>
            </a:r>
            <a:r>
              <a:rPr lang="en-CA" altLang="fr-FR" dirty="0" err="1"/>
              <a:t>énergie</a:t>
            </a:r>
            <a:r>
              <a:rPr lang="en-CA" altLang="fr-FR" dirty="0"/>
              <a:t> </a:t>
            </a:r>
            <a:r>
              <a:rPr lang="en-CA" altLang="fr-FR" dirty="0" err="1"/>
              <a:t>électrique</a:t>
            </a:r>
            <a:r>
              <a:rPr lang="en-CA" altLang="fr-FR" dirty="0"/>
              <a:t> (du courant </a:t>
            </a:r>
            <a:r>
              <a:rPr lang="en-CA" altLang="fr-FR" dirty="0" err="1"/>
              <a:t>alternatif</a:t>
            </a:r>
            <a:r>
              <a:rPr lang="en-CA" altLang="fr-FR" dirty="0"/>
              <a:t>) </a:t>
            </a:r>
            <a:r>
              <a:rPr lang="en-CA" altLang="fr-FR" dirty="0" err="1"/>
              <a:t>est</a:t>
            </a:r>
            <a:r>
              <a:rPr lang="en-CA" altLang="fr-FR" dirty="0"/>
              <a:t> </a:t>
            </a:r>
            <a:r>
              <a:rPr lang="en-CA" altLang="fr-FR" dirty="0" err="1"/>
              <a:t>transformée</a:t>
            </a:r>
            <a:r>
              <a:rPr lang="en-CA" altLang="fr-FR" dirty="0"/>
              <a:t> </a:t>
            </a:r>
            <a:r>
              <a:rPr lang="en-CA" altLang="fr-FR" dirty="0" err="1"/>
              <a:t>en</a:t>
            </a:r>
            <a:r>
              <a:rPr lang="en-CA" altLang="fr-FR" dirty="0"/>
              <a:t> champs </a:t>
            </a:r>
            <a:r>
              <a:rPr lang="en-CA" altLang="fr-FR" dirty="0" err="1"/>
              <a:t>magnétique</a:t>
            </a:r>
            <a:r>
              <a:rPr lang="en-CA" altLang="fr-FR" dirty="0"/>
              <a:t> </a:t>
            </a:r>
            <a:r>
              <a:rPr lang="en-CA" altLang="fr-FR" dirty="0" err="1"/>
              <a:t>en</a:t>
            </a:r>
            <a:r>
              <a:rPr lang="en-CA" altLang="fr-FR" dirty="0"/>
              <a:t> passant à </a:t>
            </a:r>
            <a:r>
              <a:rPr lang="en-CA" altLang="fr-FR" dirty="0" err="1"/>
              <a:t>grande</a:t>
            </a:r>
            <a:r>
              <a:rPr lang="en-CA" altLang="fr-FR" dirty="0"/>
              <a:t> </a:t>
            </a:r>
            <a:r>
              <a:rPr lang="en-CA" altLang="fr-FR" dirty="0" err="1"/>
              <a:t>vitesse</a:t>
            </a:r>
            <a:r>
              <a:rPr lang="en-CA" altLang="fr-FR" dirty="0"/>
              <a:t> dans des </a:t>
            </a:r>
            <a:r>
              <a:rPr lang="en-CA" altLang="fr-FR" dirty="0" err="1"/>
              <a:t>bobines</a:t>
            </a:r>
            <a:r>
              <a:rPr lang="en-CA" altLang="fr-FR" dirty="0"/>
              <a:t> de </a:t>
            </a:r>
            <a:r>
              <a:rPr lang="en-CA" altLang="fr-FR" dirty="0" err="1"/>
              <a:t>cuivre</a:t>
            </a:r>
            <a:endParaRPr lang="en-CA" altLang="fr-FR" dirty="0"/>
          </a:p>
          <a:p>
            <a:pPr eaLnBrk="1" hangingPunct="1"/>
            <a:endParaRPr lang="en-CA" altLang="fr-FR" dirty="0"/>
          </a:p>
        </p:txBody>
      </p:sp>
      <p:pic>
        <p:nvPicPr>
          <p:cNvPr id="88066" name="Picture 2" descr="Afficher l'image d'orig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57" y="3429000"/>
            <a:ext cx="5810250" cy="257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593A1E-DEFE-41EB-B7E9-2B16505C9DC2}"/>
              </a:ext>
            </a:extLst>
          </p:cNvPr>
          <p:cNvSpPr/>
          <p:nvPr/>
        </p:nvSpPr>
        <p:spPr>
          <a:xfrm>
            <a:off x="7504485" y="4087923"/>
            <a:ext cx="4433329" cy="18158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Le champs </a:t>
            </a:r>
            <a:r>
              <a:rPr kumimoji="0" lang="en-CA" alt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magnétique</a:t>
            </a:r>
            <a:r>
              <a:rPr kumimoji="0" lang="en-CA" alt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CA" alt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ainsi</a:t>
            </a:r>
            <a:r>
              <a:rPr kumimoji="0" lang="en-CA" alt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crée</a:t>
            </a:r>
            <a:r>
              <a:rPr kumimoji="0" lang="en-CA" alt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CA" alt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est</a:t>
            </a:r>
            <a:r>
              <a:rPr kumimoji="0" lang="en-CA" alt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CA" alt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reconverti</a:t>
            </a:r>
            <a:r>
              <a:rPr kumimoji="0" lang="en-CA" alt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en-CA" alt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en</a:t>
            </a:r>
            <a:r>
              <a:rPr kumimoji="0" lang="en-CA" alt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courant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électrique</a:t>
            </a:r>
            <a:r>
              <a:rPr kumimoji="0" lang="en-CA" alt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à distance </a:t>
            </a:r>
            <a:r>
              <a:rPr kumimoji="0" lang="en-CA" alt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lorsqu’il</a:t>
            </a:r>
            <a:r>
              <a:rPr kumimoji="0" lang="en-CA" alt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rencontre </a:t>
            </a:r>
            <a:r>
              <a:rPr kumimoji="0" lang="en-CA" alt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une</a:t>
            </a:r>
            <a:r>
              <a:rPr kumimoji="0" lang="en-CA" alt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surface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E9BEAAD3-E562-40C5-86DD-3EA689DBF423}"/>
              </a:ext>
            </a:extLst>
          </p:cNvPr>
          <p:cNvSpPr/>
          <p:nvPr/>
        </p:nvSpPr>
        <p:spPr>
          <a:xfrm>
            <a:off x="6223654" y="4793878"/>
            <a:ext cx="1075765" cy="4039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8736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D67DF-C7F6-4041-91B9-18FF94B72345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79693" y="201007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/>
              <a:t>Les </a:t>
            </a:r>
            <a:r>
              <a:rPr lang="en-CA" altLang="fr-FR" dirty="0" err="1"/>
              <a:t>précurseurs</a:t>
            </a:r>
            <a:endParaRPr lang="en-CA" altLang="fr-FR" dirty="0"/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379693" y="1968043"/>
            <a:ext cx="8153400" cy="4375185"/>
          </a:xfrm>
        </p:spPr>
        <p:txBody>
          <a:bodyPr/>
          <a:lstStyle/>
          <a:p>
            <a:pPr eaLnBrk="1" hangingPunct="1"/>
            <a:r>
              <a:rPr lang="en-CA" altLang="fr-FR" dirty="0"/>
              <a:t>1896 Jacques-</a:t>
            </a:r>
            <a:r>
              <a:rPr lang="en-CA" altLang="fr-FR" dirty="0" err="1"/>
              <a:t>Arsène</a:t>
            </a:r>
            <a:r>
              <a:rPr lang="en-CA" altLang="fr-FR" dirty="0"/>
              <a:t> </a:t>
            </a:r>
            <a:r>
              <a:rPr lang="en-CA" altLang="fr-FR" dirty="0" err="1"/>
              <a:t>d’Arsonval</a:t>
            </a:r>
            <a:r>
              <a:rPr lang="en-CA" altLang="fr-FR" dirty="0"/>
              <a:t> (Paris)</a:t>
            </a:r>
          </a:p>
          <a:p>
            <a:pPr marL="0" indent="0" eaLnBrk="1" hangingPunct="1">
              <a:buNone/>
            </a:pPr>
            <a:r>
              <a:rPr lang="en-CA" altLang="fr-FR" sz="2000" dirty="0" err="1"/>
              <a:t>Galvanomètre</a:t>
            </a:r>
            <a:r>
              <a:rPr lang="en-CA" altLang="fr-FR" sz="2000" dirty="0"/>
              <a:t>, Arsonvalisation (</a:t>
            </a:r>
            <a:r>
              <a:rPr lang="en-CA" altLang="fr-FR" sz="2000" dirty="0" err="1"/>
              <a:t>diathermie</a:t>
            </a:r>
            <a:r>
              <a:rPr lang="en-CA" altLang="fr-FR" sz="2000" dirty="0"/>
              <a:t>), </a:t>
            </a:r>
            <a:r>
              <a:rPr lang="en-CA" altLang="fr-FR" sz="2000" dirty="0" err="1"/>
              <a:t>électricité</a:t>
            </a:r>
            <a:r>
              <a:rPr lang="en-CA" altLang="fr-FR" sz="2000" dirty="0"/>
              <a:t> </a:t>
            </a:r>
            <a:r>
              <a:rPr lang="en-CA" altLang="fr-FR" sz="2000" dirty="0" err="1"/>
              <a:t>médicale</a:t>
            </a:r>
            <a:endParaRPr lang="en-CA" altLang="fr-FR" sz="2000" dirty="0"/>
          </a:p>
          <a:p>
            <a:pPr eaLnBrk="1" hangingPunct="1"/>
            <a:endParaRPr lang="en-CA" altLang="fr-FR" dirty="0"/>
          </a:p>
          <a:p>
            <a:pPr eaLnBrk="1" hangingPunct="1"/>
            <a:r>
              <a:rPr lang="en-CA" altLang="fr-FR" dirty="0"/>
              <a:t>1902 A. </a:t>
            </a:r>
            <a:r>
              <a:rPr lang="en-CA" altLang="fr-FR" dirty="0" err="1"/>
              <a:t>Pollacsek</a:t>
            </a:r>
            <a:r>
              <a:rPr lang="en-CA" altLang="fr-FR" dirty="0"/>
              <a:t> et B. Beer (Vienne) </a:t>
            </a:r>
          </a:p>
          <a:p>
            <a:pPr marL="0" indent="0" eaLnBrk="1" hangingPunct="1">
              <a:buNone/>
            </a:pPr>
            <a:r>
              <a:rPr lang="en-CA" altLang="fr-FR" sz="2000" dirty="0"/>
              <a:t>Application </a:t>
            </a:r>
            <a:r>
              <a:rPr lang="en-CA" altLang="fr-FR" sz="2000" dirty="0" err="1"/>
              <a:t>d’une</a:t>
            </a:r>
            <a:r>
              <a:rPr lang="en-CA" altLang="fr-FR" sz="2000" dirty="0"/>
              <a:t> </a:t>
            </a:r>
            <a:r>
              <a:rPr lang="en-CA" altLang="fr-FR" sz="2000" dirty="0" err="1"/>
              <a:t>bobine</a:t>
            </a:r>
            <a:r>
              <a:rPr lang="en-CA" altLang="fr-FR" sz="2000" dirty="0"/>
              <a:t> </a:t>
            </a:r>
            <a:r>
              <a:rPr lang="en-CA" altLang="fr-FR" sz="2000" dirty="0" err="1"/>
              <a:t>électromagnétique</a:t>
            </a:r>
            <a:r>
              <a:rPr lang="en-CA" altLang="fr-FR" sz="2000" dirty="0"/>
              <a:t> sur le crane</a:t>
            </a:r>
          </a:p>
          <a:p>
            <a:pPr eaLnBrk="1" hangingPunct="1"/>
            <a:endParaRPr lang="en-CA" altLang="fr-FR" dirty="0"/>
          </a:p>
          <a:p>
            <a:pPr eaLnBrk="1" hangingPunct="1"/>
            <a:r>
              <a:rPr lang="en-CA" altLang="fr-FR" dirty="0"/>
              <a:t>1910 Silvanus P. Thompson (</a:t>
            </a:r>
            <a:r>
              <a:rPr lang="en-CA" altLang="fr-FR" dirty="0" err="1"/>
              <a:t>Londre</a:t>
            </a:r>
            <a:r>
              <a:rPr lang="en-CA" altLang="fr-FR" dirty="0"/>
              <a:t>)</a:t>
            </a:r>
          </a:p>
          <a:p>
            <a:pPr marL="0" indent="0" eaLnBrk="1" hangingPunct="1">
              <a:buNone/>
            </a:pPr>
            <a:r>
              <a:rPr lang="en-CA" altLang="fr-FR" sz="2000" dirty="0"/>
              <a:t>Induction de </a:t>
            </a:r>
            <a:r>
              <a:rPr lang="en-CA" altLang="fr-FR" sz="2000" dirty="0" err="1"/>
              <a:t>phosphènes</a:t>
            </a:r>
            <a:r>
              <a:rPr lang="en-CA" altLang="fr-FR" sz="2000" dirty="0"/>
              <a:t> et de </a:t>
            </a:r>
            <a:r>
              <a:rPr lang="en-CA" altLang="fr-FR" sz="2000" dirty="0" err="1"/>
              <a:t>vertiges</a:t>
            </a:r>
            <a:r>
              <a:rPr lang="en-CA" altLang="fr-FR" sz="2000" dirty="0"/>
              <a:t> </a:t>
            </a:r>
          </a:p>
          <a:p>
            <a:pPr eaLnBrk="1" hangingPunct="1"/>
            <a:endParaRPr lang="en-CA" alt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E60A04-62E4-484F-A763-518AF6B63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236" y="1828799"/>
            <a:ext cx="4779182" cy="42463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5947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41BAC1-582B-F7C5-1856-7D1640790442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79693" y="201007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/>
              <a:t>Les </a:t>
            </a:r>
            <a:r>
              <a:rPr lang="en-CA" altLang="fr-FR" dirty="0" err="1"/>
              <a:t>précurseurs</a:t>
            </a:r>
            <a:endParaRPr lang="en-CA" altLang="fr-FR" dirty="0"/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379693" y="1968043"/>
            <a:ext cx="8153400" cy="4375185"/>
          </a:xfrm>
        </p:spPr>
        <p:txBody>
          <a:bodyPr/>
          <a:lstStyle/>
          <a:p>
            <a:pPr eaLnBrk="1" hangingPunct="1"/>
            <a:r>
              <a:rPr lang="en-CA" altLang="fr-FR" dirty="0"/>
              <a:t>1896 Jacques-</a:t>
            </a:r>
            <a:r>
              <a:rPr lang="en-CA" altLang="fr-FR" dirty="0" err="1"/>
              <a:t>Arsène</a:t>
            </a:r>
            <a:r>
              <a:rPr lang="en-CA" altLang="fr-FR" dirty="0"/>
              <a:t> </a:t>
            </a:r>
            <a:r>
              <a:rPr lang="en-CA" altLang="fr-FR" dirty="0" err="1"/>
              <a:t>d’Arsonval</a:t>
            </a:r>
            <a:r>
              <a:rPr lang="en-CA" altLang="fr-FR" dirty="0"/>
              <a:t> (Paris)</a:t>
            </a:r>
          </a:p>
          <a:p>
            <a:pPr marL="0" indent="0" eaLnBrk="1" hangingPunct="1">
              <a:buNone/>
            </a:pPr>
            <a:r>
              <a:rPr lang="en-CA" altLang="fr-FR" sz="2000" dirty="0" err="1"/>
              <a:t>Galvanomètre</a:t>
            </a:r>
            <a:r>
              <a:rPr lang="en-CA" altLang="fr-FR" sz="2000" dirty="0"/>
              <a:t>, Arsonvalisation (</a:t>
            </a:r>
            <a:r>
              <a:rPr lang="en-CA" altLang="fr-FR" sz="2000" dirty="0" err="1"/>
              <a:t>diathermie</a:t>
            </a:r>
            <a:r>
              <a:rPr lang="en-CA" altLang="fr-FR" sz="2000" dirty="0"/>
              <a:t>), </a:t>
            </a:r>
            <a:r>
              <a:rPr lang="en-CA" altLang="fr-FR" sz="2000" dirty="0" err="1"/>
              <a:t>électricité</a:t>
            </a:r>
            <a:r>
              <a:rPr lang="en-CA" altLang="fr-FR" sz="2000" dirty="0"/>
              <a:t> </a:t>
            </a:r>
            <a:r>
              <a:rPr lang="en-CA" altLang="fr-FR" sz="2000" dirty="0" err="1"/>
              <a:t>médicale</a:t>
            </a:r>
            <a:endParaRPr lang="en-CA" altLang="fr-FR" sz="2000" dirty="0"/>
          </a:p>
          <a:p>
            <a:pPr eaLnBrk="1" hangingPunct="1"/>
            <a:endParaRPr lang="en-CA" altLang="fr-FR" dirty="0"/>
          </a:p>
          <a:p>
            <a:pPr eaLnBrk="1" hangingPunct="1"/>
            <a:r>
              <a:rPr lang="en-CA" altLang="fr-FR" dirty="0"/>
              <a:t>1902 A. </a:t>
            </a:r>
            <a:r>
              <a:rPr lang="en-CA" altLang="fr-FR" dirty="0" err="1"/>
              <a:t>Pollacsek</a:t>
            </a:r>
            <a:r>
              <a:rPr lang="en-CA" altLang="fr-FR" dirty="0"/>
              <a:t> et B. Beer (Vienne) </a:t>
            </a:r>
          </a:p>
          <a:p>
            <a:pPr marL="0" indent="0" eaLnBrk="1" hangingPunct="1">
              <a:buNone/>
            </a:pPr>
            <a:r>
              <a:rPr lang="en-CA" altLang="fr-FR" sz="2000" dirty="0"/>
              <a:t>Application </a:t>
            </a:r>
            <a:r>
              <a:rPr lang="en-CA" altLang="fr-FR" sz="2000" dirty="0" err="1"/>
              <a:t>d’une</a:t>
            </a:r>
            <a:r>
              <a:rPr lang="en-CA" altLang="fr-FR" sz="2000" dirty="0"/>
              <a:t> </a:t>
            </a:r>
            <a:r>
              <a:rPr lang="en-CA" altLang="fr-FR" sz="2000" dirty="0" err="1"/>
              <a:t>bobine</a:t>
            </a:r>
            <a:r>
              <a:rPr lang="en-CA" altLang="fr-FR" sz="2000" dirty="0"/>
              <a:t> </a:t>
            </a:r>
            <a:r>
              <a:rPr lang="en-CA" altLang="fr-FR" sz="2000" dirty="0" err="1"/>
              <a:t>électromagnétique</a:t>
            </a:r>
            <a:r>
              <a:rPr lang="en-CA" altLang="fr-FR" sz="2000" dirty="0"/>
              <a:t> sur le crane</a:t>
            </a:r>
          </a:p>
          <a:p>
            <a:pPr eaLnBrk="1" hangingPunct="1"/>
            <a:endParaRPr lang="en-CA" altLang="fr-FR" dirty="0"/>
          </a:p>
          <a:p>
            <a:pPr eaLnBrk="1" hangingPunct="1"/>
            <a:r>
              <a:rPr lang="en-CA" altLang="fr-FR" dirty="0"/>
              <a:t>1910 Silvanus P. Thompson (</a:t>
            </a:r>
            <a:r>
              <a:rPr lang="en-CA" altLang="fr-FR" dirty="0" err="1"/>
              <a:t>Londre</a:t>
            </a:r>
            <a:r>
              <a:rPr lang="en-CA" altLang="fr-FR" dirty="0"/>
              <a:t>)</a:t>
            </a:r>
          </a:p>
          <a:p>
            <a:pPr marL="0" indent="0" eaLnBrk="1" hangingPunct="1">
              <a:buNone/>
            </a:pPr>
            <a:r>
              <a:rPr lang="en-CA" altLang="fr-FR" sz="2000" dirty="0"/>
              <a:t>Induction de </a:t>
            </a:r>
            <a:r>
              <a:rPr lang="en-CA" altLang="fr-FR" sz="2000" dirty="0" err="1"/>
              <a:t>phosphènes</a:t>
            </a:r>
            <a:r>
              <a:rPr lang="en-CA" altLang="fr-FR" sz="2000" dirty="0"/>
              <a:t> et de </a:t>
            </a:r>
            <a:r>
              <a:rPr lang="en-CA" altLang="fr-FR" sz="2000" dirty="0" err="1"/>
              <a:t>vertiges</a:t>
            </a:r>
            <a:r>
              <a:rPr lang="en-CA" altLang="fr-FR" sz="2000" dirty="0"/>
              <a:t> </a:t>
            </a:r>
          </a:p>
          <a:p>
            <a:pPr eaLnBrk="1" hangingPunct="1"/>
            <a:endParaRPr lang="en-CA" alt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696C75C-A098-4907-AB48-172A8B939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2716" y="0"/>
            <a:ext cx="4299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98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985F6EA-3E44-2469-DC97-069BD6EE5430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79693" y="201007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/>
              <a:t>Les </a:t>
            </a:r>
            <a:r>
              <a:rPr lang="en-CA" altLang="fr-FR" dirty="0" err="1"/>
              <a:t>précurseurs</a:t>
            </a:r>
            <a:endParaRPr lang="en-CA" altLang="fr-FR" dirty="0"/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379693" y="1968043"/>
            <a:ext cx="8153400" cy="4375185"/>
          </a:xfrm>
        </p:spPr>
        <p:txBody>
          <a:bodyPr/>
          <a:lstStyle/>
          <a:p>
            <a:pPr eaLnBrk="1" hangingPunct="1"/>
            <a:r>
              <a:rPr lang="en-CA" altLang="fr-FR" dirty="0"/>
              <a:t>1896 Jacques-</a:t>
            </a:r>
            <a:r>
              <a:rPr lang="en-CA" altLang="fr-FR" dirty="0" err="1"/>
              <a:t>Arsène</a:t>
            </a:r>
            <a:r>
              <a:rPr lang="en-CA" altLang="fr-FR" dirty="0"/>
              <a:t> </a:t>
            </a:r>
            <a:r>
              <a:rPr lang="en-CA" altLang="fr-FR" dirty="0" err="1"/>
              <a:t>d’Arsonval</a:t>
            </a:r>
            <a:r>
              <a:rPr lang="en-CA" altLang="fr-FR" dirty="0"/>
              <a:t> (Paris)</a:t>
            </a:r>
          </a:p>
          <a:p>
            <a:pPr marL="0" indent="0" eaLnBrk="1" hangingPunct="1">
              <a:buNone/>
            </a:pPr>
            <a:r>
              <a:rPr lang="en-CA" altLang="fr-FR" sz="2000" dirty="0" err="1"/>
              <a:t>Galvanomètre</a:t>
            </a:r>
            <a:r>
              <a:rPr lang="en-CA" altLang="fr-FR" sz="2000" dirty="0"/>
              <a:t>, Arsonvalisation (</a:t>
            </a:r>
            <a:r>
              <a:rPr lang="en-CA" altLang="fr-FR" sz="2000" dirty="0" err="1"/>
              <a:t>diathermie</a:t>
            </a:r>
            <a:r>
              <a:rPr lang="en-CA" altLang="fr-FR" sz="2000" dirty="0"/>
              <a:t>), </a:t>
            </a:r>
            <a:r>
              <a:rPr lang="en-CA" altLang="fr-FR" sz="2000" dirty="0" err="1"/>
              <a:t>électricité</a:t>
            </a:r>
            <a:r>
              <a:rPr lang="en-CA" altLang="fr-FR" sz="2000" dirty="0"/>
              <a:t> </a:t>
            </a:r>
            <a:r>
              <a:rPr lang="en-CA" altLang="fr-FR" sz="2000" dirty="0" err="1"/>
              <a:t>médicale</a:t>
            </a:r>
            <a:endParaRPr lang="en-CA" altLang="fr-FR" sz="2000" dirty="0"/>
          </a:p>
          <a:p>
            <a:pPr eaLnBrk="1" hangingPunct="1"/>
            <a:endParaRPr lang="en-CA" altLang="fr-FR" dirty="0"/>
          </a:p>
          <a:p>
            <a:pPr eaLnBrk="1" hangingPunct="1"/>
            <a:r>
              <a:rPr lang="en-CA" altLang="fr-FR" dirty="0"/>
              <a:t>1902 A. </a:t>
            </a:r>
            <a:r>
              <a:rPr lang="en-CA" altLang="fr-FR" dirty="0" err="1"/>
              <a:t>Pollacsek</a:t>
            </a:r>
            <a:r>
              <a:rPr lang="en-CA" altLang="fr-FR" dirty="0"/>
              <a:t> et B. Beer (Vienne) </a:t>
            </a:r>
          </a:p>
          <a:p>
            <a:pPr marL="0" indent="0" eaLnBrk="1" hangingPunct="1">
              <a:buNone/>
            </a:pPr>
            <a:r>
              <a:rPr lang="en-CA" altLang="fr-FR" sz="2000" dirty="0"/>
              <a:t>Application </a:t>
            </a:r>
            <a:r>
              <a:rPr lang="en-CA" altLang="fr-FR" sz="2000" dirty="0" err="1"/>
              <a:t>d’une</a:t>
            </a:r>
            <a:r>
              <a:rPr lang="en-CA" altLang="fr-FR" sz="2000" dirty="0"/>
              <a:t> </a:t>
            </a:r>
            <a:r>
              <a:rPr lang="en-CA" altLang="fr-FR" sz="2000" dirty="0" err="1"/>
              <a:t>bobine</a:t>
            </a:r>
            <a:r>
              <a:rPr lang="en-CA" altLang="fr-FR" sz="2000" dirty="0"/>
              <a:t> </a:t>
            </a:r>
            <a:r>
              <a:rPr lang="en-CA" altLang="fr-FR" sz="2000" dirty="0" err="1"/>
              <a:t>électromagnétique</a:t>
            </a:r>
            <a:r>
              <a:rPr lang="en-CA" altLang="fr-FR" sz="2000" dirty="0"/>
              <a:t> sur le crane</a:t>
            </a:r>
          </a:p>
          <a:p>
            <a:pPr eaLnBrk="1" hangingPunct="1"/>
            <a:endParaRPr lang="en-CA" altLang="fr-FR" dirty="0"/>
          </a:p>
          <a:p>
            <a:pPr eaLnBrk="1" hangingPunct="1"/>
            <a:r>
              <a:rPr lang="en-CA" altLang="fr-FR" dirty="0"/>
              <a:t>1910 Silvanus P. Thompson (</a:t>
            </a:r>
            <a:r>
              <a:rPr lang="en-CA" altLang="fr-FR" dirty="0" err="1"/>
              <a:t>Londre</a:t>
            </a:r>
            <a:r>
              <a:rPr lang="en-CA" altLang="fr-FR" dirty="0"/>
              <a:t>)</a:t>
            </a:r>
          </a:p>
          <a:p>
            <a:pPr marL="0" indent="0" eaLnBrk="1" hangingPunct="1">
              <a:buNone/>
            </a:pPr>
            <a:r>
              <a:rPr lang="en-CA" altLang="fr-FR" sz="2000" dirty="0"/>
              <a:t>Induction de </a:t>
            </a:r>
            <a:r>
              <a:rPr lang="en-CA" altLang="fr-FR" sz="2000" dirty="0" err="1"/>
              <a:t>phosphènes</a:t>
            </a:r>
            <a:r>
              <a:rPr lang="en-CA" altLang="fr-FR" sz="2000" dirty="0"/>
              <a:t> et de </a:t>
            </a:r>
            <a:r>
              <a:rPr lang="en-CA" altLang="fr-FR" sz="2000" dirty="0" err="1"/>
              <a:t>vertiges</a:t>
            </a:r>
            <a:r>
              <a:rPr lang="en-CA" altLang="fr-FR" sz="2000" dirty="0"/>
              <a:t> </a:t>
            </a:r>
          </a:p>
          <a:p>
            <a:pPr eaLnBrk="1" hangingPunct="1"/>
            <a:endParaRPr lang="en-CA" altLang="fr-FR" dirty="0"/>
          </a:p>
        </p:txBody>
      </p:sp>
      <p:sp>
        <p:nvSpPr>
          <p:cNvPr id="2" name="ZoneTexte 1"/>
          <p:cNvSpPr txBox="1"/>
          <p:nvPr/>
        </p:nvSpPr>
        <p:spPr>
          <a:xfrm>
            <a:off x="7860673" y="5185792"/>
            <a:ext cx="4176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Magnétophosphènes</a:t>
            </a:r>
            <a:endParaRPr kumimoji="0" lang="fr-FR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(probablement par stimulation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rétinienne plus que par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Stimulation du C. visuel)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4087" y="1808820"/>
            <a:ext cx="3252058" cy="324036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6F6041E-1201-4501-B915-A05803308ED5}"/>
              </a:ext>
            </a:extLst>
          </p:cNvPr>
          <p:cNvSpPr txBox="1"/>
          <p:nvPr/>
        </p:nvSpPr>
        <p:spPr>
          <a:xfrm>
            <a:off x="11473111" y="1624154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42Hz</a:t>
            </a:r>
          </a:p>
        </p:txBody>
      </p:sp>
    </p:spTree>
    <p:extLst>
      <p:ext uri="{BB962C8B-B14F-4D97-AF65-F5344CB8AC3E}">
        <p14:creationId xmlns:p14="http://schemas.microsoft.com/office/powerpoint/2010/main" val="2316792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C2188B-EB26-07F4-B617-94168F4739F1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79693" y="201007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/>
              <a:t>Les </a:t>
            </a:r>
            <a:r>
              <a:rPr lang="en-CA" altLang="fr-FR" dirty="0" err="1"/>
              <a:t>précurseurs</a:t>
            </a:r>
            <a:endParaRPr lang="en-CA" altLang="fr-FR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8A33127-3893-482E-9FB1-0F44179DD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348" y="1752887"/>
            <a:ext cx="6673017" cy="4543239"/>
          </a:xfrm>
          <a:prstGeom prst="rect">
            <a:avLst/>
          </a:prstGeom>
          <a:noFill/>
          <a:ln w="36000" cap="sq">
            <a:solidFill>
              <a:srgbClr val="8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C41821E-4E99-490D-8DE2-1958C5F40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22" y="1752886"/>
            <a:ext cx="3536653" cy="454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DAFFB0C-5D4F-43CC-9377-88B698777A78}"/>
              </a:ext>
            </a:extLst>
          </p:cNvPr>
          <p:cNvSpPr txBox="1"/>
          <p:nvPr/>
        </p:nvSpPr>
        <p:spPr>
          <a:xfrm>
            <a:off x="1759227" y="1191607"/>
            <a:ext cx="1611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Le Figaro 1937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912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30643F-D801-3A20-FDC7-A6F75BCF80E8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379693" y="201007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/>
              <a:t>1910 – 1985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F5E9C2B-2034-42EE-8C60-D8359A8B938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29994" y="1922929"/>
            <a:ext cx="10871200" cy="4468906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En psychiatrie, développement d’autres alternatives thérapeutiques 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Psychanalyse</a:t>
            </a:r>
          </a:p>
          <a:p>
            <a:r>
              <a:rPr lang="fr-FR" dirty="0"/>
              <a:t>ECT</a:t>
            </a:r>
          </a:p>
          <a:p>
            <a:r>
              <a:rPr lang="fr-FR" dirty="0"/>
              <a:t>Pharmacologie </a:t>
            </a:r>
          </a:p>
          <a:p>
            <a:r>
              <a:rPr lang="fr-FR" dirty="0"/>
              <a:t>TCC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= La stimulation type TMS se fait oublier</a:t>
            </a:r>
          </a:p>
        </p:txBody>
      </p:sp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E3A6F513-3DFB-4B7E-94DB-8C65B9738003}"/>
              </a:ext>
            </a:extLst>
          </p:cNvPr>
          <p:cNvSpPr/>
          <p:nvPr/>
        </p:nvSpPr>
        <p:spPr>
          <a:xfrm>
            <a:off x="5015883" y="3159524"/>
            <a:ext cx="6646123" cy="199571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Therapeutic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Trifecta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of 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Psychiatry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 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Shrinking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– Shocking – </a:t>
            </a:r>
            <a:r>
              <a:rPr kumimoji="0" lang="fr-FR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Drugging</a:t>
            </a:r>
            <a:r>
              <a:rPr kumimoji="0" lang="fr-F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»</a:t>
            </a:r>
          </a:p>
        </p:txBody>
      </p:sp>
    </p:spTree>
    <p:extLst>
      <p:ext uri="{BB962C8B-B14F-4D97-AF65-F5344CB8AC3E}">
        <p14:creationId xmlns:p14="http://schemas.microsoft.com/office/powerpoint/2010/main" val="314203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BB0F4C-EC60-22ED-033E-5D26B2CF968F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78305" y="213009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/>
              <a:t>1985 : un tournant ?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6816352" y="1791855"/>
            <a:ext cx="5079813" cy="485313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CA" altLang="fr-FR" dirty="0"/>
              <a:t>Anthony T. Barker (Sheffield, UK)</a:t>
            </a:r>
          </a:p>
          <a:p>
            <a:pPr eaLnBrk="1" hangingPunct="1"/>
            <a:endParaRPr lang="en-CA" altLang="fr-FR" dirty="0"/>
          </a:p>
          <a:p>
            <a:pPr eaLnBrk="1" hangingPunct="1"/>
            <a:endParaRPr lang="en-CA" altLang="fr-FR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141" y="2436293"/>
            <a:ext cx="3943350" cy="409575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7BD8005-27C6-44F3-8A65-6EB50F840AF9}"/>
              </a:ext>
            </a:extLst>
          </p:cNvPr>
          <p:cNvSpPr txBox="1"/>
          <p:nvPr/>
        </p:nvSpPr>
        <p:spPr>
          <a:xfrm>
            <a:off x="216242" y="2070678"/>
            <a:ext cx="58011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fr-FR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er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stimulateur : démonstration qu’il est possible d’exciter électriquement une structure cérébrale à l’aide de champs magnétiques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BA2E6C1-41D5-461B-AFD0-C589C9773E21}"/>
              </a:ext>
            </a:extLst>
          </p:cNvPr>
          <p:cNvSpPr txBox="1"/>
          <p:nvPr/>
        </p:nvSpPr>
        <p:spPr>
          <a:xfrm>
            <a:off x="216242" y="3699942"/>
            <a:ext cx="5879758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Conduction des potentiels d’action du cortex moteur à la moelle épinière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mapping cérébral</a:t>
            </a:r>
          </a:p>
        </p:txBody>
      </p:sp>
    </p:spTree>
    <p:extLst>
      <p:ext uri="{BB962C8B-B14F-4D97-AF65-F5344CB8AC3E}">
        <p14:creationId xmlns:p14="http://schemas.microsoft.com/office/powerpoint/2010/main" val="1354532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72FF05-6F5E-DC2F-EC1F-19F373D3CB44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78305" y="213009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/>
              <a:t>1985 : un tournant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EB52761-589F-1656-3269-E7F5D9900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925" y="0"/>
            <a:ext cx="7204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D3829B1-B82F-BCA6-7F06-49E662426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05" y="1203609"/>
            <a:ext cx="4357720" cy="551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4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569E8C-1FBA-651B-ADE9-C3A5D82C0ED2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78305" y="213009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/>
              <a:t>1985 : un tournant ?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BD8005-27C6-44F3-8A65-6EB50F840AF9}"/>
              </a:ext>
            </a:extLst>
          </p:cNvPr>
          <p:cNvSpPr txBox="1"/>
          <p:nvPr/>
        </p:nvSpPr>
        <p:spPr>
          <a:xfrm>
            <a:off x="216242" y="2070678"/>
            <a:ext cx="58011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fr-FR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er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stimulateur : démonstration qu’il est possible d’exciter électriquement une structure cérébrale à l’aide de champs magnétiques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BA2E6C1-41D5-461B-AFD0-C589C9773E21}"/>
              </a:ext>
            </a:extLst>
          </p:cNvPr>
          <p:cNvSpPr txBox="1"/>
          <p:nvPr/>
        </p:nvSpPr>
        <p:spPr>
          <a:xfrm>
            <a:off x="216242" y="3699942"/>
            <a:ext cx="5879758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Conduction des potentiels d’action du cortex moteur à la moelle épinière =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mapping cérébral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3A117D-E0CA-492C-AF1F-4540F7984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568" y="250161"/>
            <a:ext cx="5344190" cy="293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D2704D2-54AD-8EE2-D252-7440AFD01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166" y="3676799"/>
            <a:ext cx="5498592" cy="274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B423D67-41A0-7AC3-4955-632E9CA2E43B}"/>
              </a:ext>
            </a:extLst>
          </p:cNvPr>
          <p:cNvSpPr txBox="1"/>
          <p:nvPr/>
        </p:nvSpPr>
        <p:spPr>
          <a:xfrm>
            <a:off x="478305" y="4936343"/>
            <a:ext cx="51244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C’est ce principe qui a aidé pour dresser la carte des aires motrices du cerveau</a:t>
            </a:r>
          </a:p>
        </p:txBody>
      </p:sp>
    </p:spTree>
    <p:extLst>
      <p:ext uri="{BB962C8B-B14F-4D97-AF65-F5344CB8AC3E}">
        <p14:creationId xmlns:p14="http://schemas.microsoft.com/office/powerpoint/2010/main" val="2488204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6AE801-3652-DDE7-1BBC-33F91F2A7D29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78305" y="213009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/>
              <a:t>1985 : un tournant ?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8A3D6C3-E1A6-4CC3-83D0-3364B17343A5}"/>
              </a:ext>
            </a:extLst>
          </p:cNvPr>
          <p:cNvSpPr txBox="1"/>
          <p:nvPr/>
        </p:nvSpPr>
        <p:spPr>
          <a:xfrm>
            <a:off x="478305" y="1334993"/>
            <a:ext cx="587975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Principe des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Potentiels Evoqués Moteurs</a:t>
            </a:r>
          </a:p>
        </p:txBody>
      </p:sp>
      <p:pic>
        <p:nvPicPr>
          <p:cNvPr id="2050" name="Picture 2" descr="Le potentiel évoqué moteur | Download Scientific Diagram">
            <a:extLst>
              <a:ext uri="{FF2B5EF4-FFF2-40B4-BE49-F238E27FC236}">
                <a16:creationId xmlns:a16="http://schemas.microsoft.com/office/drawing/2014/main" id="{02A67C8D-4E5A-408E-9EC0-8CD82B19A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662" y="1529666"/>
            <a:ext cx="5312458" cy="50840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otentiels Évoqués Moteurs (PEM) - SNCLF - Société de Neurophysiologie  Clinique de Langue Française">
            <a:extLst>
              <a:ext uri="{FF2B5EF4-FFF2-40B4-BE49-F238E27FC236}">
                <a16:creationId xmlns:a16="http://schemas.microsoft.com/office/drawing/2014/main" id="{9DAE1BD3-0600-4920-97FB-94A9EB27A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05" y="2714796"/>
            <a:ext cx="5972513" cy="338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5878813-C08F-9682-FD6E-4E561D70983B}"/>
              </a:ext>
            </a:extLst>
          </p:cNvPr>
          <p:cNvSpPr txBox="1"/>
          <p:nvPr/>
        </p:nvSpPr>
        <p:spPr>
          <a:xfrm>
            <a:off x="478305" y="1892792"/>
            <a:ext cx="5879758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Examen de neurophysiologie de routine pour explorer l’intégrité neurologique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0D8E0B13-E3E1-6922-961D-7D94A7B01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78" y="5511397"/>
            <a:ext cx="5894102" cy="117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8250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43C194-3A90-6B34-EB63-D23FBE688355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505198" y="125387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 err="1"/>
              <a:t>Constat</a:t>
            </a:r>
            <a:endParaRPr lang="en-CA" alt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8787DAD-BE2A-4AA1-BBA6-D57BE0BA6A20}"/>
              </a:ext>
            </a:extLst>
          </p:cNvPr>
          <p:cNvSpPr txBox="1"/>
          <p:nvPr/>
        </p:nvSpPr>
        <p:spPr>
          <a:xfrm>
            <a:off x="652145" y="1882588"/>
            <a:ext cx="1065785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1987 : Bickford constate une élévation de l’humeur chez les patients sains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après stimulation par TMS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1993 : 1</a:t>
            </a:r>
            <a:r>
              <a:rPr kumimoji="0" lang="fr-FR" sz="2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ère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étude (</a:t>
            </a:r>
            <a:r>
              <a:rPr kumimoji="0" 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Hoflich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 = Pulse unique sur 3 sites 2 patients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1995 : 2</a:t>
            </a:r>
            <a:r>
              <a:rPr kumimoji="0" lang="fr-FR" sz="2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nd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étude (</a:t>
            </a:r>
            <a:r>
              <a:rPr kumimoji="0" lang="fr-F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Kolbinger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 = 0,25 à 0,5 Hz sur 15 patients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1995 : 3</a:t>
            </a:r>
            <a:r>
              <a:rPr kumimoji="0" lang="fr-FR" sz="2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ème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étude (Georges) = 20 Hz à 80% SM sur 6 patients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6538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043BA8-C101-E530-00DA-3D79DC543A01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85D01943-1911-4BC2-83CD-F043C8DC7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-15238"/>
            <a:ext cx="10515600" cy="1325563"/>
          </a:xfrm>
        </p:spPr>
        <p:txBody>
          <a:bodyPr/>
          <a:lstStyle/>
          <a:p>
            <a:r>
              <a:rPr lang="fr-FR" dirty="0"/>
              <a:t>1996 : le 1</a:t>
            </a:r>
            <a:r>
              <a:rPr lang="fr-FR" baseline="30000" dirty="0"/>
              <a:t>er</a:t>
            </a:r>
            <a:r>
              <a:rPr lang="fr-FR" dirty="0"/>
              <a:t> essai contrôlé randomisé </a:t>
            </a:r>
            <a:endParaRPr lang="en-GB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4D37B3F-6011-4D52-A9D1-DAA7E418FFE0}"/>
              </a:ext>
            </a:extLst>
          </p:cNvPr>
          <p:cNvSpPr txBox="1"/>
          <p:nvPr/>
        </p:nvSpPr>
        <p:spPr>
          <a:xfrm>
            <a:off x="554736" y="1731122"/>
            <a:ext cx="5801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fr-FR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er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RCT, publié dans le Lancet, par Pascual-Leon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FF783E9-ED59-4211-A310-A062FE8A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279" y="3592586"/>
            <a:ext cx="6897063" cy="314368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4406AD7-B768-4B69-8CBB-96F1A65D4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472" y="3171789"/>
            <a:ext cx="2553056" cy="514422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DC386B1-13F6-4640-B8AB-6C4C404A7AC8}"/>
              </a:ext>
            </a:extLst>
          </p:cNvPr>
          <p:cNvSpPr txBox="1"/>
          <p:nvPr/>
        </p:nvSpPr>
        <p:spPr>
          <a:xfrm>
            <a:off x="554736" y="2552029"/>
            <a:ext cx="42306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17 patients atteints de dépression résistante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Contrôlé contre placébo (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Sham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Amélioration significative chez 64%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8476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142CA0-ED72-A012-104D-15209F5321A1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85D01943-1911-4BC2-83CD-F043C8DC7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-15238"/>
            <a:ext cx="10515600" cy="1325563"/>
          </a:xfrm>
        </p:spPr>
        <p:txBody>
          <a:bodyPr/>
          <a:lstStyle/>
          <a:p>
            <a:r>
              <a:rPr lang="fr-FR" sz="3200" dirty="0"/>
              <a:t>Depuis 1996 : plus de 1000 RCT</a:t>
            </a:r>
            <a:endParaRPr lang="en-GB" sz="32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BBEDF51-7DC1-F911-4667-4DCC375FF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750" y="2677885"/>
            <a:ext cx="9516803" cy="234347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433143E-9DE3-2911-0BA0-9EBFC857CC0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04763" y="4594206"/>
            <a:ext cx="809738" cy="39058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4ADB6370-6873-6FE9-9C86-64DA1A210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808" y="222823"/>
            <a:ext cx="2389632" cy="849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5169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90F6A7-CE05-2EC5-3FFA-AA00BA6CD648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77BBEC1-44F1-43F6-AA02-2CB5132D1F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304"/>
          <a:stretch/>
        </p:blipFill>
        <p:spPr>
          <a:xfrm>
            <a:off x="1357085" y="0"/>
            <a:ext cx="9257906" cy="646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343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3669D3-7F32-9ADD-8928-AF5584545F24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77BBEC1-44F1-43F6-AA02-2CB5132D1F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551"/>
          <a:stretch/>
        </p:blipFill>
        <p:spPr>
          <a:xfrm>
            <a:off x="1225312" y="258199"/>
            <a:ext cx="10407298" cy="628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60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62B36C-5251-228F-3C89-BC52DEDFF892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35C7DD0-D08F-4FBE-BB8F-3D8EE3742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779" y="351235"/>
            <a:ext cx="3602419" cy="3954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BB18DE4-4ECD-448D-9C30-5BCA0A092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266" y="1850928"/>
            <a:ext cx="2891323" cy="3170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2F7642D-143B-4DFC-9088-3712F4C16A59}"/>
              </a:ext>
            </a:extLst>
          </p:cNvPr>
          <p:cNvSpPr txBox="1"/>
          <p:nvPr/>
        </p:nvSpPr>
        <p:spPr>
          <a:xfrm>
            <a:off x="294879" y="1712978"/>
            <a:ext cx="2162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1996 - 2022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7E72A7E-4961-4AC7-B8C8-103BA2811AC6}"/>
              </a:ext>
            </a:extLst>
          </p:cNvPr>
          <p:cNvSpPr txBox="1"/>
          <p:nvPr/>
        </p:nvSpPr>
        <p:spPr>
          <a:xfrm>
            <a:off x="294879" y="2413337"/>
            <a:ext cx="580112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Plus de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200 méta-analyses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Des 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recommandations officielles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USA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(2018) : APA, FDA (2008)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UK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(2015) : NICE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Allemagne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(2015) : DGPPN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Australie – NZ 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(2018) : RANZCP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Canada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(2016) : CANMAT</a:t>
            </a:r>
          </a:p>
        </p:txBody>
      </p:sp>
      <p:pic>
        <p:nvPicPr>
          <p:cNvPr id="1026" name="Picture 2" descr="Resources | CANMAT">
            <a:extLst>
              <a:ext uri="{FF2B5EF4-FFF2-40B4-BE49-F238E27FC236}">
                <a16:creationId xmlns:a16="http://schemas.microsoft.com/office/drawing/2014/main" id="{47B0FC1F-DE08-495F-8012-5B296BCF0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2535" y="2686132"/>
            <a:ext cx="2990499" cy="3954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re 2">
            <a:extLst>
              <a:ext uri="{FF2B5EF4-FFF2-40B4-BE49-F238E27FC236}">
                <a16:creationId xmlns:a16="http://schemas.microsoft.com/office/drawing/2014/main" id="{F3F491B7-142E-42E6-A6D3-21CD9E06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-15238"/>
            <a:ext cx="10515600" cy="1325563"/>
          </a:xfrm>
        </p:spPr>
        <p:txBody>
          <a:bodyPr/>
          <a:lstStyle/>
          <a:p>
            <a:r>
              <a:rPr lang="fr-FR" dirty="0"/>
              <a:t>Chronologie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79596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FB6E3E-20AB-9DB0-8569-591A9080286C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9232" name="Picture 16" descr="Hôpital de la Conception - APHM, Hôpital public à Marseille">
            <a:extLst>
              <a:ext uri="{FF2B5EF4-FFF2-40B4-BE49-F238E27FC236}">
                <a16:creationId xmlns:a16="http://schemas.microsoft.com/office/drawing/2014/main" id="{9E80A3C7-0094-CF95-FC27-45BEBABE4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3856" y="4541520"/>
            <a:ext cx="2316480" cy="2316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ELSAN Bretéché (@ELSAN_Breteche) / Twitter">
            <a:extLst>
              <a:ext uri="{FF2B5EF4-FFF2-40B4-BE49-F238E27FC236}">
                <a16:creationId xmlns:a16="http://schemas.microsoft.com/office/drawing/2014/main" id="{629095F4-405F-FDF7-2A15-1EA3716C6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254" y="3450159"/>
            <a:ext cx="1703070" cy="170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Clinique neuro-psychiatrique Mirambeau - Anglet : clinique et hôpital de  jour">
            <a:extLst>
              <a:ext uri="{FF2B5EF4-FFF2-40B4-BE49-F238E27FC236}">
                <a16:creationId xmlns:a16="http://schemas.microsoft.com/office/drawing/2014/main" id="{EC49F21B-EE4C-853E-6E5F-D78132BFE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574" y="2381250"/>
            <a:ext cx="1809750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7E72A7E-4961-4AC7-B8C8-103BA2811AC6}"/>
              </a:ext>
            </a:extLst>
          </p:cNvPr>
          <p:cNvSpPr txBox="1"/>
          <p:nvPr/>
        </p:nvSpPr>
        <p:spPr>
          <a:xfrm>
            <a:off x="294879" y="2413337"/>
            <a:ext cx="58011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40 centres en 2017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Probablement une centaine en 2022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Essentiellement des CHU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 Centres anti-douleurs</a:t>
            </a:r>
          </a:p>
        </p:txBody>
      </p:sp>
      <p:sp>
        <p:nvSpPr>
          <p:cNvPr id="10" name="Titre 2">
            <a:extLst>
              <a:ext uri="{FF2B5EF4-FFF2-40B4-BE49-F238E27FC236}">
                <a16:creationId xmlns:a16="http://schemas.microsoft.com/office/drawing/2014/main" id="{F3F491B7-142E-42E6-A6D3-21CD9E06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36" y="-15238"/>
            <a:ext cx="10515600" cy="1325563"/>
          </a:xfrm>
        </p:spPr>
        <p:txBody>
          <a:bodyPr/>
          <a:lstStyle/>
          <a:p>
            <a:r>
              <a:rPr lang="fr-FR" dirty="0"/>
              <a:t>En France</a:t>
            </a:r>
            <a:endParaRPr lang="en-GB" dirty="0"/>
          </a:p>
        </p:txBody>
      </p:sp>
      <p:pic>
        <p:nvPicPr>
          <p:cNvPr id="9218" name="Picture 2" descr="Externalisation d'archives pour l'hôpital Saint-Antoine - APHP">
            <a:extLst>
              <a:ext uri="{FF2B5EF4-FFF2-40B4-BE49-F238E27FC236}">
                <a16:creationId xmlns:a16="http://schemas.microsoft.com/office/drawing/2014/main" id="{C4C30EF7-5511-4B22-4A66-837F6843F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50" y="444498"/>
            <a:ext cx="2465070" cy="1257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Présentation de l'unité REQPHARM de la Pitié-Salpêtrière dédiée à  l'innovation – CLIP² Galilée">
            <a:extLst>
              <a:ext uri="{FF2B5EF4-FFF2-40B4-BE49-F238E27FC236}">
                <a16:creationId xmlns:a16="http://schemas.microsoft.com/office/drawing/2014/main" id="{57F2DC7A-8D6E-BB12-44B9-660A7DA58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007" y="1888199"/>
            <a:ext cx="2817955" cy="161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Hôpital Kremlin Bicêtre - DIM Thérapie Génique">
            <a:extLst>
              <a:ext uri="{FF2B5EF4-FFF2-40B4-BE49-F238E27FC236}">
                <a16:creationId xmlns:a16="http://schemas.microsoft.com/office/drawing/2014/main" id="{2A6CB915-EF0F-2F7D-E5E0-CBF69DA45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190" y="3513024"/>
            <a:ext cx="2897695" cy="182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AP-HP Hôpital Ambroise Paré (Boulogne-Billancourt) – Fédération  Hospitalière de France (FHF)">
            <a:extLst>
              <a:ext uri="{FF2B5EF4-FFF2-40B4-BE49-F238E27FC236}">
                <a16:creationId xmlns:a16="http://schemas.microsoft.com/office/drawing/2014/main" id="{97061B25-AFA2-FB3D-5191-A93406C40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0723" y="5406726"/>
            <a:ext cx="3201162" cy="1468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Partenariat avec le Centre Hospitalier Le Vinatier - UFR de Lettres,  sciences du langage et arts">
            <a:extLst>
              <a:ext uri="{FF2B5EF4-FFF2-40B4-BE49-F238E27FC236}">
                <a16:creationId xmlns:a16="http://schemas.microsoft.com/office/drawing/2014/main" id="{7F037DD2-5679-81E2-9048-380380963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7267" y="488408"/>
            <a:ext cx="1954365" cy="137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0621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5BA6E6-8847-1584-DE5D-4479D0C257F8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52B1E69-0448-4E45-B945-9CE249F187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54"/>
          <a:stretch/>
        </p:blipFill>
        <p:spPr>
          <a:xfrm>
            <a:off x="1899577" y="545432"/>
            <a:ext cx="9335244" cy="583932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8FBD8D1-1D7E-43F5-B726-DF9CF6053946}"/>
              </a:ext>
            </a:extLst>
          </p:cNvPr>
          <p:cNvSpPr txBox="1"/>
          <p:nvPr/>
        </p:nvSpPr>
        <p:spPr>
          <a:xfrm>
            <a:off x="8504321" y="2393282"/>
            <a:ext cx="2162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Stimulateur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(Puissance en Joules)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8D5594F-93D0-4CFA-B24D-9F70B2937FEF}"/>
              </a:ext>
            </a:extLst>
          </p:cNvPr>
          <p:cNvSpPr txBox="1"/>
          <p:nvPr/>
        </p:nvSpPr>
        <p:spPr>
          <a:xfrm>
            <a:off x="8771021" y="3256882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EMG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5FFAD2D-FB73-4113-9255-22160F199421}"/>
              </a:ext>
            </a:extLst>
          </p:cNvPr>
          <p:cNvSpPr txBox="1"/>
          <p:nvPr/>
        </p:nvSpPr>
        <p:spPr>
          <a:xfrm>
            <a:off x="1836589" y="834724"/>
            <a:ext cx="22446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Bobine de stimulation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(onde magnétique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Exprimée en Tesla)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C392166-1CF2-4C9C-A1E4-44CF74FCB2B2}"/>
              </a:ext>
            </a:extLst>
          </p:cNvPr>
          <p:cNvSpPr txBox="1"/>
          <p:nvPr/>
        </p:nvSpPr>
        <p:spPr>
          <a:xfrm>
            <a:off x="7850271" y="964016"/>
            <a:ext cx="1823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Ecran de contrôle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8B5469C-0188-4621-AB42-86EA772D1F71}"/>
              </a:ext>
            </a:extLst>
          </p:cNvPr>
          <p:cNvCxnSpPr>
            <a:cxnSpLocks/>
          </p:cNvCxnSpPr>
          <p:nvPr/>
        </p:nvCxnSpPr>
        <p:spPr>
          <a:xfrm>
            <a:off x="3797473" y="1353172"/>
            <a:ext cx="928598" cy="271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65F2E777-61F3-4085-B354-50812A3B6652}"/>
              </a:ext>
            </a:extLst>
          </p:cNvPr>
          <p:cNvCxnSpPr/>
          <p:nvPr/>
        </p:nvCxnSpPr>
        <p:spPr>
          <a:xfrm flipH="1">
            <a:off x="7604048" y="1333348"/>
            <a:ext cx="801384" cy="229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D666858C-BD89-4999-8C48-EEF09072482C}"/>
              </a:ext>
            </a:extLst>
          </p:cNvPr>
          <p:cNvCxnSpPr/>
          <p:nvPr/>
        </p:nvCxnSpPr>
        <p:spPr>
          <a:xfrm flipH="1">
            <a:off x="7650282" y="2762614"/>
            <a:ext cx="854039" cy="284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B507022-CDE6-4700-AC87-5FA80B4B18C3}"/>
              </a:ext>
            </a:extLst>
          </p:cNvPr>
          <p:cNvCxnSpPr/>
          <p:nvPr/>
        </p:nvCxnSpPr>
        <p:spPr>
          <a:xfrm flipH="1">
            <a:off x="7439661" y="3511469"/>
            <a:ext cx="1273996" cy="114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952E2937-A7AA-454D-A808-EE6DA11BD274}"/>
              </a:ext>
            </a:extLst>
          </p:cNvPr>
          <p:cNvCxnSpPr/>
          <p:nvPr/>
        </p:nvCxnSpPr>
        <p:spPr>
          <a:xfrm>
            <a:off x="5564628" y="839080"/>
            <a:ext cx="164386" cy="732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31E188E4-AB47-4822-AFCE-DA9B722B546E}"/>
              </a:ext>
            </a:extLst>
          </p:cNvPr>
          <p:cNvSpPr txBox="1"/>
          <p:nvPr/>
        </p:nvSpPr>
        <p:spPr>
          <a:xfrm>
            <a:off x="4466186" y="632526"/>
            <a:ext cx="1098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Bras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Fisso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6793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B947BC-FAF5-BB4E-1C5A-8B9AA84B2A37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722548" y="1481328"/>
            <a:ext cx="9685476" cy="4410477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CA" altLang="fr-FR" dirty="0" err="1"/>
              <a:t>Selon</a:t>
            </a:r>
            <a:r>
              <a:rPr lang="en-CA" altLang="fr-FR" dirty="0"/>
              <a:t> la </a:t>
            </a:r>
            <a:r>
              <a:rPr lang="en-CA" altLang="fr-FR" dirty="0" err="1"/>
              <a:t>forme</a:t>
            </a:r>
            <a:r>
              <a:rPr lang="en-CA" altLang="fr-FR" dirty="0"/>
              <a:t> de la </a:t>
            </a:r>
            <a:r>
              <a:rPr lang="en-CA" altLang="fr-FR" dirty="0" err="1"/>
              <a:t>bobine</a:t>
            </a:r>
            <a:r>
              <a:rPr lang="en-CA" altLang="fr-FR" dirty="0"/>
              <a:t> </a:t>
            </a:r>
            <a:r>
              <a:rPr lang="en-CA" altLang="fr-FR" dirty="0" err="1"/>
              <a:t>utilisée</a:t>
            </a:r>
            <a:r>
              <a:rPr lang="en-CA" altLang="fr-FR" dirty="0"/>
              <a:t> le champs se dirige </a:t>
            </a:r>
            <a:r>
              <a:rPr lang="en-CA" altLang="fr-FR" dirty="0" err="1"/>
              <a:t>perpendiculairement</a:t>
            </a:r>
            <a:r>
              <a:rPr lang="en-CA" altLang="fr-FR" dirty="0"/>
              <a:t> de </a:t>
            </a:r>
            <a:r>
              <a:rPr lang="en-CA" altLang="fr-FR" dirty="0" err="1"/>
              <a:t>façon</a:t>
            </a:r>
            <a:r>
              <a:rPr lang="en-CA" altLang="fr-FR" dirty="0"/>
              <a:t> plus </a:t>
            </a:r>
            <a:r>
              <a:rPr lang="en-CA" altLang="fr-FR" dirty="0" err="1"/>
              <a:t>ou</a:t>
            </a:r>
            <a:r>
              <a:rPr lang="en-CA" altLang="fr-FR" dirty="0"/>
              <a:t> </a:t>
            </a:r>
            <a:r>
              <a:rPr lang="en-CA" altLang="fr-FR" dirty="0" err="1"/>
              <a:t>moins</a:t>
            </a:r>
            <a:r>
              <a:rPr lang="en-CA" altLang="fr-FR" dirty="0"/>
              <a:t> focal </a:t>
            </a:r>
          </a:p>
        </p:txBody>
      </p:sp>
      <p:pic>
        <p:nvPicPr>
          <p:cNvPr id="113668" name="Picture 4" descr="Afficher l'image d'orig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383" y="2772251"/>
            <a:ext cx="2828069" cy="377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4E92C02-8BC8-4362-8050-7957F14533C6}"/>
              </a:ext>
            </a:extLst>
          </p:cNvPr>
          <p:cNvSpPr txBox="1">
            <a:spLocks/>
          </p:cNvSpPr>
          <p:nvPr/>
        </p:nvSpPr>
        <p:spPr bwMode="auto">
          <a:xfrm>
            <a:off x="657598" y="143166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fr-FR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j-ea"/>
                <a:cs typeface="+mj-cs"/>
              </a:rPr>
              <a:t>Mécanisme</a:t>
            </a:r>
            <a:r>
              <a:rPr kumimoji="0" lang="en-CA" altLang="fr-FR" sz="4400" b="0" i="0" u="none" strike="noStrike" kern="1200" cap="none" spc="0" normalizeH="0" baseline="0" noProof="0" dirty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j-ea"/>
                <a:cs typeface="+mj-cs"/>
              </a:rPr>
              <a:t> </a:t>
            </a:r>
            <a:r>
              <a:rPr kumimoji="0" lang="en-CA" altLang="fr-FR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j-ea"/>
                <a:cs typeface="+mj-cs"/>
              </a:rPr>
              <a:t>d’action</a:t>
            </a:r>
            <a:endParaRPr kumimoji="0" lang="en-CA" altLang="fr-FR" sz="4400" b="0" i="0" u="none" strike="noStrike" kern="1200" cap="none" spc="0" normalizeH="0" baseline="0" noProof="0" dirty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j-ea"/>
              <a:cs typeface="+mj-c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45F077E-F4F4-48B2-9A99-04C72F4C0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38" y="2950233"/>
            <a:ext cx="6550617" cy="341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1948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ECFA8F-E967-531B-C440-DF28CA2345A4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24517" y="206070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 err="1"/>
              <a:t>Bobines</a:t>
            </a:r>
            <a:endParaRPr lang="en-CA" alt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833480-750A-441D-9589-2F0EF74B5FA2}"/>
              </a:ext>
            </a:extLst>
          </p:cNvPr>
          <p:cNvSpPr txBox="1"/>
          <p:nvPr/>
        </p:nvSpPr>
        <p:spPr>
          <a:xfrm>
            <a:off x="9275857" y="1748117"/>
            <a:ext cx="21242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Double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coil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 »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Bobine en 8 »</a:t>
            </a:r>
          </a:p>
        </p:txBody>
      </p:sp>
      <p:pic>
        <p:nvPicPr>
          <p:cNvPr id="2052" name="Picture 4" descr="Résultat de recherche d'images pour &quot;deymed bobines&quot;">
            <a:extLst>
              <a:ext uri="{FF2B5EF4-FFF2-40B4-BE49-F238E27FC236}">
                <a16:creationId xmlns:a16="http://schemas.microsoft.com/office/drawing/2014/main" id="{CB4900AE-7676-42C9-965A-1478F1094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754" y="206070"/>
            <a:ext cx="4206925" cy="4556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ésultat de recherche d'images pour &quot;deymed coil&quot;">
            <a:extLst>
              <a:ext uri="{FF2B5EF4-FFF2-40B4-BE49-F238E27FC236}">
                <a16:creationId xmlns:a16="http://schemas.microsoft.com/office/drawing/2014/main" id="{1F28FD05-9AD8-44AC-A2CA-8CBB13F14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4" y="4392706"/>
            <a:ext cx="4359823" cy="235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 descr="Une image contenant clé&#10;&#10;Description générée automatiquement">
            <a:extLst>
              <a:ext uri="{FF2B5EF4-FFF2-40B4-BE49-F238E27FC236}">
                <a16:creationId xmlns:a16="http://schemas.microsoft.com/office/drawing/2014/main" id="{25B7C7B7-EF90-5F09-0CAD-E81DBD7EBA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204" y="1260678"/>
            <a:ext cx="9335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877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879481-D513-D9D1-B4DE-F22A1CD6C665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24517" y="206070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 err="1"/>
              <a:t>Bobines</a:t>
            </a:r>
            <a:endParaRPr lang="en-CA" alt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833480-750A-441D-9589-2F0EF74B5FA2}"/>
              </a:ext>
            </a:extLst>
          </p:cNvPr>
          <p:cNvSpPr txBox="1"/>
          <p:nvPr/>
        </p:nvSpPr>
        <p:spPr>
          <a:xfrm>
            <a:off x="9275857" y="1748117"/>
            <a:ext cx="21242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Double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coil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 »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Bobine en 8 »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AF7E709-4485-40A4-AC46-8D2A48F51BC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821"/>
          <a:stretch/>
        </p:blipFill>
        <p:spPr>
          <a:xfrm>
            <a:off x="4318374" y="1962429"/>
            <a:ext cx="3039833" cy="4143953"/>
          </a:xfrm>
          <a:prstGeom prst="rect">
            <a:avLst/>
          </a:prstGeom>
        </p:spPr>
      </p:pic>
      <p:pic>
        <p:nvPicPr>
          <p:cNvPr id="6" name="Image 5" descr="Une image contenant clé&#10;&#10;Description générée automatiquement">
            <a:extLst>
              <a:ext uri="{FF2B5EF4-FFF2-40B4-BE49-F238E27FC236}">
                <a16:creationId xmlns:a16="http://schemas.microsoft.com/office/drawing/2014/main" id="{8ECC2B40-5D77-C80E-7D35-9AB77348F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2" y="824770"/>
            <a:ext cx="4851863" cy="356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6269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FF5903-8BCA-FAC4-510E-4A23CE135ACD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24517" y="206070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 err="1"/>
              <a:t>Bobines</a:t>
            </a:r>
            <a:endParaRPr lang="en-CA" alt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833480-750A-441D-9589-2F0EF74B5FA2}"/>
              </a:ext>
            </a:extLst>
          </p:cNvPr>
          <p:cNvSpPr txBox="1"/>
          <p:nvPr/>
        </p:nvSpPr>
        <p:spPr>
          <a:xfrm>
            <a:off x="9064261" y="1748117"/>
            <a:ext cx="2547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Single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cone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coil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 »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Bobine simple »</a:t>
            </a:r>
          </a:p>
        </p:txBody>
      </p:sp>
      <p:pic>
        <p:nvPicPr>
          <p:cNvPr id="3074" name="Picture 2" descr="Résultat de recherche d'images pour &quot;deymed bobines&quot;">
            <a:extLst>
              <a:ext uri="{FF2B5EF4-FFF2-40B4-BE49-F238E27FC236}">
                <a16:creationId xmlns:a16="http://schemas.microsoft.com/office/drawing/2014/main" id="{681955EE-7F7C-4049-846F-F9D41ADF2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833" y="3156697"/>
            <a:ext cx="38481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1BFFB0C-E382-4F9E-8DE5-ECD1A613067B}"/>
              </a:ext>
            </a:extLst>
          </p:cNvPr>
          <p:cNvSpPr txBox="1"/>
          <p:nvPr/>
        </p:nvSpPr>
        <p:spPr>
          <a:xfrm>
            <a:off x="869576" y="6078071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Utilisation périphérique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0A29552-AC34-4B46-94EF-39BCBFD590C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88" t="-1285" r="-1484" b="1285"/>
          <a:stretch/>
        </p:blipFill>
        <p:spPr>
          <a:xfrm>
            <a:off x="3192648" y="1686757"/>
            <a:ext cx="4053126" cy="4760646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E547C2C-0290-3277-358D-949726EBCF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9769" y="1092214"/>
            <a:ext cx="5321762" cy="390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282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169A32-B6D7-AEDB-3468-E8A1FD48EE42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24517" y="206070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 err="1"/>
              <a:t>Bobines</a:t>
            </a:r>
            <a:endParaRPr lang="en-CA" alt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833480-750A-441D-9589-2F0EF74B5FA2}"/>
              </a:ext>
            </a:extLst>
          </p:cNvPr>
          <p:cNvSpPr txBox="1"/>
          <p:nvPr/>
        </p:nvSpPr>
        <p:spPr>
          <a:xfrm>
            <a:off x="9004951" y="1748117"/>
            <a:ext cx="266611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Double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cone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coil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 »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Bobine en V »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Bobine papillon »</a:t>
            </a:r>
          </a:p>
        </p:txBody>
      </p:sp>
      <p:pic>
        <p:nvPicPr>
          <p:cNvPr id="4098" name="Picture 2" descr="Résultat de recherche d'images pour &quot;butterfly  coil rtms&quot;">
            <a:extLst>
              <a:ext uri="{FF2B5EF4-FFF2-40B4-BE49-F238E27FC236}">
                <a16:creationId xmlns:a16="http://schemas.microsoft.com/office/drawing/2014/main" id="{ECB7A0EE-D3AC-4D03-845D-77E4C1763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7875"/>
            <a:ext cx="7620000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 descr="Une image contenant connecteur&#10;&#10;Description générée automatiquement">
            <a:extLst>
              <a:ext uri="{FF2B5EF4-FFF2-40B4-BE49-F238E27FC236}">
                <a16:creationId xmlns:a16="http://schemas.microsoft.com/office/drawing/2014/main" id="{37D42C12-7D79-82F1-74B1-161C45157F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688" y="2971800"/>
            <a:ext cx="5185782" cy="380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4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7CD411-DC53-9435-950B-828E1F35776C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24517" y="206070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 err="1"/>
              <a:t>Bobines</a:t>
            </a:r>
            <a:endParaRPr lang="en-CA" alt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833480-750A-441D-9589-2F0EF74B5FA2}"/>
              </a:ext>
            </a:extLst>
          </p:cNvPr>
          <p:cNvSpPr txBox="1"/>
          <p:nvPr/>
        </p:nvSpPr>
        <p:spPr>
          <a:xfrm>
            <a:off x="8145079" y="701370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H-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Coil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»</a:t>
            </a:r>
          </a:p>
        </p:txBody>
      </p:sp>
      <p:pic>
        <p:nvPicPr>
          <p:cNvPr id="5122" name="Picture 2" descr="Résultat de recherche d'images pour &quot;h-coil tms&quot;">
            <a:extLst>
              <a:ext uri="{FF2B5EF4-FFF2-40B4-BE49-F238E27FC236}">
                <a16:creationId xmlns:a16="http://schemas.microsoft.com/office/drawing/2014/main" id="{04A22446-64D1-475C-B5B9-55F202611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1731" y="1786379"/>
            <a:ext cx="2396307" cy="400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Learn About BrainsWay's Innovative Technology">
            <a:extLst>
              <a:ext uri="{FF2B5EF4-FFF2-40B4-BE49-F238E27FC236}">
                <a16:creationId xmlns:a16="http://schemas.microsoft.com/office/drawing/2014/main" id="{4ADE91B9-1484-3610-352C-67DA9BCDE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17" y="2154918"/>
            <a:ext cx="7472392" cy="350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2433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72877DC-C6FC-CB64-7450-A54979A39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27" y="0"/>
            <a:ext cx="11973345" cy="6858000"/>
          </a:xfrm>
          <a:prstGeom prst="rect">
            <a:avLst/>
          </a:prstGeom>
        </p:spPr>
      </p:pic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24517" y="206070"/>
            <a:ext cx="8153400" cy="990600"/>
          </a:xfrm>
        </p:spPr>
        <p:txBody>
          <a:bodyPr/>
          <a:lstStyle/>
          <a:p>
            <a:pPr eaLnBrk="1" hangingPunct="1"/>
            <a:r>
              <a:rPr lang="en-CA" altLang="fr-FR" dirty="0" err="1"/>
              <a:t>Bobines</a:t>
            </a:r>
            <a:endParaRPr lang="en-CA" alt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C833480-750A-441D-9589-2F0EF74B5FA2}"/>
              </a:ext>
            </a:extLst>
          </p:cNvPr>
          <p:cNvSpPr txBox="1"/>
          <p:nvPr/>
        </p:nvSpPr>
        <p:spPr>
          <a:xfrm>
            <a:off x="9625313" y="1748117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H-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Coil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»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59D24F7-6CB8-41E1-A326-D08095218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718" y="0"/>
            <a:ext cx="4912282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3C97075-1002-4CC0-83B6-6A61BAF716EC}"/>
              </a:ext>
            </a:extLst>
          </p:cNvPr>
          <p:cNvSpPr txBox="1"/>
          <p:nvPr/>
        </p:nvSpPr>
        <p:spPr>
          <a:xfrm>
            <a:off x="5348157" y="2314323"/>
            <a:ext cx="1748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« 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Twin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</a:t>
            </a:r>
            <a:r>
              <a:rPr kumimoji="0" lang="fr-FR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Coil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/>
                <a:ea typeface="+mn-ea"/>
                <a:cs typeface="+mn-cs"/>
              </a:rPr>
              <a:t> »</a:t>
            </a:r>
          </a:p>
        </p:txBody>
      </p:sp>
      <p:pic>
        <p:nvPicPr>
          <p:cNvPr id="22530" name="Picture 2" descr="Physicians investigate whether magnetic seizure therapy can treat bipolar  depression - UTHealth News - UTHealth">
            <a:extLst>
              <a:ext uri="{FF2B5EF4-FFF2-40B4-BE49-F238E27FC236}">
                <a16:creationId xmlns:a16="http://schemas.microsoft.com/office/drawing/2014/main" id="{B3DFC183-CEF6-4984-86FA-9C424F655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37" y="1883353"/>
            <a:ext cx="3954248" cy="43958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33796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015717-B560-A275-CCE7-16710193AB03}"/>
              </a:ext>
            </a:extLst>
          </p:cNvPr>
          <p:cNvSpPr/>
          <p:nvPr/>
        </p:nvSpPr>
        <p:spPr>
          <a:xfrm>
            <a:off x="0" y="-95250"/>
            <a:ext cx="12315825" cy="70485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0F7D33-AE3B-416B-B589-7D82CC902B35}"/>
              </a:ext>
            </a:extLst>
          </p:cNvPr>
          <p:cNvSpPr/>
          <p:nvPr/>
        </p:nvSpPr>
        <p:spPr>
          <a:xfrm>
            <a:off x="7100496" y="1453155"/>
            <a:ext cx="1695303" cy="5121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111618" name="Picture 2" descr="https://upload.wikimedia.org/wikipedia/commons/5/59/TMS_focal_fiel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718" y="1516883"/>
            <a:ext cx="6024282" cy="534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necteur droit avec flèche 2">
            <a:extLst>
              <a:ext uri="{FF2B5EF4-FFF2-40B4-BE49-F238E27FC236}">
                <a16:creationId xmlns:a16="http://schemas.microsoft.com/office/drawing/2014/main" id="{3A1FFCE1-1D37-42FC-8190-249906436C41}"/>
              </a:ext>
            </a:extLst>
          </p:cNvPr>
          <p:cNvCxnSpPr>
            <a:cxnSpLocks/>
          </p:cNvCxnSpPr>
          <p:nvPr/>
        </p:nvCxnSpPr>
        <p:spPr>
          <a:xfrm>
            <a:off x="9547083" y="3625124"/>
            <a:ext cx="0" cy="2308412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2BA8D42-2A09-46AA-961D-49A75511545C}"/>
              </a:ext>
            </a:extLst>
          </p:cNvPr>
          <p:cNvSpPr/>
          <p:nvPr/>
        </p:nvSpPr>
        <p:spPr>
          <a:xfrm>
            <a:off x="9861824" y="4595572"/>
            <a:ext cx="160332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>
                <a:ln w="0"/>
                <a:solidFill>
                  <a:srgbClr val="DD8047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Tw Cen MT"/>
                <a:ea typeface="+mn-ea"/>
                <a:cs typeface="+mn-cs"/>
              </a:rPr>
              <a:t>2-3 cm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8D6449-B9EF-46F9-824C-D3B65C8C9771}"/>
              </a:ext>
            </a:extLst>
          </p:cNvPr>
          <p:cNvSpPr/>
          <p:nvPr/>
        </p:nvSpPr>
        <p:spPr>
          <a:xfrm>
            <a:off x="9861824" y="5684761"/>
            <a:ext cx="179247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Tw Cen MT"/>
                <a:ea typeface="+mn-ea"/>
                <a:cs typeface="+mn-cs"/>
              </a:rPr>
              <a:t>2-3 cm</a:t>
            </a:r>
            <a:r>
              <a:rPr kumimoji="0" lang="fr-FR" sz="4000" b="0" i="0" u="none" strike="noStrike" kern="1200" cap="none" spc="0" normalizeH="0" baseline="30000" noProof="0" dirty="0">
                <a:ln w="0"/>
                <a:solidFill>
                  <a:prstClr val="whit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Tw Cen MT"/>
                <a:ea typeface="+mn-ea"/>
                <a:cs typeface="+mn-cs"/>
              </a:rPr>
              <a:t>2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35FF2E-0792-4438-8B75-3515831AB308}"/>
              </a:ext>
            </a:extLst>
          </p:cNvPr>
          <p:cNvSpPr txBox="1">
            <a:spLocks/>
          </p:cNvSpPr>
          <p:nvPr/>
        </p:nvSpPr>
        <p:spPr bwMode="auto">
          <a:xfrm>
            <a:off x="657598" y="143166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fr-FR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j-ea"/>
                <a:cs typeface="+mj-cs"/>
              </a:rPr>
              <a:t>Mécanisme</a:t>
            </a:r>
            <a:r>
              <a:rPr kumimoji="0" lang="en-CA" altLang="fr-FR" sz="4400" b="0" i="0" u="none" strike="noStrike" kern="1200" cap="none" spc="0" normalizeH="0" baseline="0" noProof="0" dirty="0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j-ea"/>
                <a:cs typeface="+mj-cs"/>
              </a:rPr>
              <a:t> </a:t>
            </a:r>
            <a:r>
              <a:rPr kumimoji="0" lang="en-CA" altLang="fr-FR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775F55"/>
                </a:solidFill>
                <a:effectLst/>
                <a:uLnTx/>
                <a:uFillTx/>
                <a:latin typeface="Tw Cen MT"/>
                <a:ea typeface="+mj-ea"/>
                <a:cs typeface="+mj-cs"/>
              </a:rPr>
              <a:t>d’action</a:t>
            </a:r>
            <a:endParaRPr kumimoji="0" lang="en-CA" altLang="fr-FR" sz="4400" b="0" i="0" u="none" strike="noStrike" kern="1200" cap="none" spc="0" normalizeH="0" baseline="0" noProof="0" dirty="0">
              <a:ln>
                <a:noFill/>
              </a:ln>
              <a:solidFill>
                <a:srgbClr val="775F55"/>
              </a:solidFill>
              <a:effectLst/>
              <a:uLnTx/>
              <a:uFillTx/>
              <a:latin typeface="Tw Cen MT"/>
              <a:ea typeface="+mj-ea"/>
              <a:cs typeface="+mj-cs"/>
            </a:endParaRPr>
          </a:p>
        </p:txBody>
      </p:sp>
      <p:sp>
        <p:nvSpPr>
          <p:cNvPr id="8" name="Triangle isocèle 7">
            <a:extLst>
              <a:ext uri="{FF2B5EF4-FFF2-40B4-BE49-F238E27FC236}">
                <a16:creationId xmlns:a16="http://schemas.microsoft.com/office/drawing/2014/main" id="{66306619-EC85-4BC0-96AE-B3DAC8ABE921}"/>
              </a:ext>
            </a:extLst>
          </p:cNvPr>
          <p:cNvSpPr/>
          <p:nvPr/>
        </p:nvSpPr>
        <p:spPr>
          <a:xfrm>
            <a:off x="9232343" y="5981766"/>
            <a:ext cx="629481" cy="277906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/>
              <a:ea typeface="+mn-ea"/>
              <a:cs typeface="+mn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EFB4E72-6A24-C7E9-EB5C-E8904784A8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821"/>
          <a:stretch/>
        </p:blipFill>
        <p:spPr>
          <a:xfrm>
            <a:off x="2268186" y="1894751"/>
            <a:ext cx="3039833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6645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sp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1184</Words>
  <Application>Microsoft Office PowerPoint</Application>
  <PresentationFormat>Grand écran</PresentationFormat>
  <Paragraphs>265</Paragraphs>
  <Slides>40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40</vt:i4>
      </vt:variant>
    </vt:vector>
  </HeadingPairs>
  <TitlesOfParts>
    <vt:vector size="53" baseType="lpstr">
      <vt:lpstr>Meiryo</vt:lpstr>
      <vt:lpstr>Aptos</vt:lpstr>
      <vt:lpstr>Aptos Display</vt:lpstr>
      <vt:lpstr>Arial</vt:lpstr>
      <vt:lpstr>Calibri</vt:lpstr>
      <vt:lpstr>Calibri Light</vt:lpstr>
      <vt:lpstr>Hanson</vt:lpstr>
      <vt:lpstr>Times New Roman</vt:lpstr>
      <vt:lpstr>Tw Cen MT</vt:lpstr>
      <vt:lpstr>Wingdings</vt:lpstr>
      <vt:lpstr>Wingdings 2</vt:lpstr>
      <vt:lpstr>1_Thème Office</vt:lpstr>
      <vt:lpstr>Median</vt:lpstr>
      <vt:lpstr>Présentation PowerPoint</vt:lpstr>
      <vt:lpstr>Présentation PowerPoint</vt:lpstr>
      <vt:lpstr>Présentation PowerPoint</vt:lpstr>
      <vt:lpstr>Présentation PowerPoint</vt:lpstr>
      <vt:lpstr>Repetitive Transcranial Magnetic Stimulation</vt:lpstr>
      <vt:lpstr>Pourquoi la rTMS ?</vt:lpstr>
      <vt:lpstr>Pourquoi la rTMS ?</vt:lpstr>
      <vt:lpstr>Objectifs et Questionnements pratiques ?</vt:lpstr>
      <vt:lpstr>Quelques abréviations </vt:lpstr>
      <vt:lpstr>Sommaire</vt:lpstr>
      <vt:lpstr>Présentation PowerPoint</vt:lpstr>
      <vt:lpstr>Neurostimulation</vt:lpstr>
      <vt:lpstr>Principe théorique</vt:lpstr>
      <vt:lpstr>Principe théorique</vt:lpstr>
      <vt:lpstr>Mécanisme d’action</vt:lpstr>
      <vt:lpstr>Les précurseurs</vt:lpstr>
      <vt:lpstr>Les précurseurs</vt:lpstr>
      <vt:lpstr>Les précurseurs</vt:lpstr>
      <vt:lpstr>Les précurseurs</vt:lpstr>
      <vt:lpstr>1910 – 1985 </vt:lpstr>
      <vt:lpstr>1985 : un tournant ?</vt:lpstr>
      <vt:lpstr>1985 : un tournant</vt:lpstr>
      <vt:lpstr>1985 : un tournant ?</vt:lpstr>
      <vt:lpstr>1985 : un tournant ?</vt:lpstr>
      <vt:lpstr>Constat</vt:lpstr>
      <vt:lpstr>1996 : le 1er essai contrôlé randomisé </vt:lpstr>
      <vt:lpstr>Depuis 1996 : plus de 1000 RCT</vt:lpstr>
      <vt:lpstr>Présentation PowerPoint</vt:lpstr>
      <vt:lpstr>Présentation PowerPoint</vt:lpstr>
      <vt:lpstr>Chronologie</vt:lpstr>
      <vt:lpstr>En France</vt:lpstr>
      <vt:lpstr>Présentation PowerPoint</vt:lpstr>
      <vt:lpstr>Présentation PowerPoint</vt:lpstr>
      <vt:lpstr>Bobines</vt:lpstr>
      <vt:lpstr>Bobines</vt:lpstr>
      <vt:lpstr>Bobines</vt:lpstr>
      <vt:lpstr>Bobines</vt:lpstr>
      <vt:lpstr>Bobines</vt:lpstr>
      <vt:lpstr>Bobines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Bourla</dc:creator>
  <cp:lastModifiedBy>Alexis Bourla</cp:lastModifiedBy>
  <cp:revision>1</cp:revision>
  <dcterms:created xsi:type="dcterms:W3CDTF">2026-09-26T13:43:11Z</dcterms:created>
  <dcterms:modified xsi:type="dcterms:W3CDTF">2026-09-26T13:44:18Z</dcterms:modified>
</cp:coreProperties>
</file>